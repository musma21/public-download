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203" r:id="rId4"/>
  </p:sldMasterIdLst>
  <p:notesMasterIdLst>
    <p:notesMasterId r:id="rId14"/>
  </p:notesMasterIdLst>
  <p:handoutMasterIdLst>
    <p:handoutMasterId r:id="rId15"/>
  </p:handoutMasterIdLst>
  <p:sldIdLst>
    <p:sldId id="260" r:id="rId5"/>
    <p:sldId id="3563" r:id="rId6"/>
    <p:sldId id="3562" r:id="rId7"/>
    <p:sldId id="3564" r:id="rId8"/>
    <p:sldId id="3569" r:id="rId9"/>
    <p:sldId id="3568" r:id="rId10"/>
    <p:sldId id="3565" r:id="rId11"/>
    <p:sldId id="3566" r:id="rId12"/>
    <p:sldId id="354" r:id="rId13"/>
  </p:sldIdLst>
  <p:sldSz cx="10440988" cy="7308850"/>
  <p:notesSz cx="6797675" cy="987425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1pPr>
    <a:lvl2pPr marL="457073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2pPr>
    <a:lvl3pPr marL="914146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3pPr>
    <a:lvl4pPr marL="137122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4pPr>
    <a:lvl5pPr marL="1828296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5pPr>
    <a:lvl6pPr marL="2285366" algn="l" defTabSz="914146" rtl="0" eaLnBrk="1" latinLnBrk="1" hangingPunct="1"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6pPr>
    <a:lvl7pPr marL="2742440" algn="l" defTabSz="914146" rtl="0" eaLnBrk="1" latinLnBrk="1" hangingPunct="1"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7pPr>
    <a:lvl8pPr marL="3199514" algn="l" defTabSz="914146" rtl="0" eaLnBrk="1" latinLnBrk="1" hangingPunct="1"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8pPr>
    <a:lvl9pPr marL="3656587" algn="l" defTabSz="914146" rtl="0" eaLnBrk="1" latinLnBrk="1" hangingPunct="1">
      <a:defRPr kumimoji="1" sz="1100" kern="1200">
        <a:solidFill>
          <a:schemeClr val="tx1"/>
        </a:solidFill>
        <a:latin typeface="Arial" charset="0"/>
        <a:ea typeface="HY태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4" userDrawn="1">
          <p15:clr>
            <a:srgbClr val="A4A3A4"/>
          </p15:clr>
        </p15:guide>
        <p15:guide id="2" pos="6418" userDrawn="1">
          <p15:clr>
            <a:srgbClr val="A4A3A4"/>
          </p15:clr>
        </p15:guide>
        <p15:guide id="3" pos="136" userDrawn="1">
          <p15:clr>
            <a:srgbClr val="A4A3A4"/>
          </p15:clr>
        </p15:guide>
        <p15:guide id="5" pos="952">
          <p15:clr>
            <a:srgbClr val="A4A3A4"/>
          </p15:clr>
        </p15:guide>
        <p15:guide id="8" pos="3289" userDrawn="1">
          <p15:clr>
            <a:srgbClr val="A4A3A4"/>
          </p15:clr>
        </p15:guide>
        <p15:guide id="9" orient="horz" pos="4343" userDrawn="1">
          <p15:clr>
            <a:srgbClr val="A4A3A4"/>
          </p15:clr>
        </p15:guide>
        <p15:guide id="10" pos="6486" userDrawn="1">
          <p15:clr>
            <a:srgbClr val="A4A3A4"/>
          </p15:clr>
        </p15:guide>
        <p15:guide id="11" orient="horz" pos="556" userDrawn="1">
          <p15:clr>
            <a:srgbClr val="A4A3A4"/>
          </p15:clr>
        </p15:guide>
        <p15:guide id="12" orient="horz" pos="1281" userDrawn="1">
          <p15:clr>
            <a:srgbClr val="A4A3A4"/>
          </p15:clr>
        </p15:guide>
        <p15:guide id="13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62DA61-AFBE-8D1F-695E-6424EB7D2EED}" name="Jinwoo Hong" initials="JH" userId="S::jinhon@microsoft.com::cd4e0e68-fed0-435d-8213-a3e3eb8fa2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4D50"/>
    <a:srgbClr val="0072C6"/>
    <a:srgbClr val="EBEAF4"/>
    <a:srgbClr val="F7F5F7"/>
    <a:srgbClr val="D6ECFC"/>
    <a:srgbClr val="F2F2F2"/>
    <a:srgbClr val="FFCF89"/>
    <a:srgbClr val="FD5555"/>
    <a:srgbClr val="7F7F7F"/>
    <a:srgbClr val="B6E6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1C634-911B-9445-B8E6-08F23BCFA373}" v="130" dt="2025-11-13T03:36:02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5934"/>
  </p:normalViewPr>
  <p:slideViewPr>
    <p:cSldViewPr snapToGrid="0">
      <p:cViewPr varScale="1">
        <p:scale>
          <a:sx n="115" d="100"/>
          <a:sy n="115" d="100"/>
        </p:scale>
        <p:origin x="1656" y="200"/>
      </p:cViewPr>
      <p:guideLst>
        <p:guide orient="horz" pos="964"/>
        <p:guide pos="6418"/>
        <p:guide pos="136"/>
        <p:guide pos="952"/>
        <p:guide pos="3289"/>
        <p:guide orient="horz" pos="4343"/>
        <p:guide pos="6486"/>
        <p:guide orient="horz" pos="556"/>
        <p:guide orient="horz" pos="1281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88" y="1120"/>
      </p:cViewPr>
      <p:guideLst>
        <p:guide orient="horz" pos="3111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57811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4225" y="635000"/>
            <a:ext cx="5264150" cy="3684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sz="quarter" idx="3"/>
          </p:nvPr>
        </p:nvSpPr>
        <p:spPr bwMode="auto">
          <a:xfrm>
            <a:off x="679160" y="4689771"/>
            <a:ext cx="5439355" cy="4444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268272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073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146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220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296" algn="l" rtl="0" eaLnBrk="0" fontAlgn="base" latinLnBrk="1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366" algn="l" defTabSz="9141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440" algn="l" defTabSz="9141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514" algn="l" defTabSz="9141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587" algn="l" defTabSz="91414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4125f6c583_0_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685800"/>
            <a:ext cx="4899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4125f6c583_0_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>
          <a:extLst>
            <a:ext uri="{FF2B5EF4-FFF2-40B4-BE49-F238E27FC236}">
              <a16:creationId xmlns:a16="http://schemas.microsoft.com/office/drawing/2014/main" id="{0CD3C3A0-A329-C657-967B-4EE45700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34125f6c583_0_1326:notes">
            <a:extLst>
              <a:ext uri="{FF2B5EF4-FFF2-40B4-BE49-F238E27FC236}">
                <a16:creationId xmlns:a16="http://schemas.microsoft.com/office/drawing/2014/main" id="{EDF297C0-526E-6950-98DF-4C668F5E3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685800"/>
            <a:ext cx="48990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34125f6c583_0_1326:notes">
            <a:extLst>
              <a:ext uri="{FF2B5EF4-FFF2-40B4-BE49-F238E27FC236}">
                <a16:creationId xmlns:a16="http://schemas.microsoft.com/office/drawing/2014/main" id="{E6FF65A7-CFF4-7899-B9D5-BD7B66C4F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24292F"/>
                </a:solidFill>
                <a:latin typeface="Inter"/>
                <a:ea typeface="Inter"/>
                <a:cs typeface="Inter"/>
                <a:sym typeface="Inter"/>
              </a:rPr>
              <a:t>Time check: </a:t>
            </a:r>
            <a:r>
              <a:rPr lang="en">
                <a:solidFill>
                  <a:srgbClr val="57606A"/>
                </a:solidFill>
                <a:latin typeface="Inter"/>
                <a:ea typeface="Inter"/>
                <a:cs typeface="Inter"/>
                <a:sym typeface="Inter"/>
              </a:rPr>
              <a:t>You should be about </a:t>
            </a:r>
            <a:r>
              <a:rPr lang="en" b="1">
                <a:solidFill>
                  <a:srgbClr val="57606A"/>
                </a:solidFill>
                <a:latin typeface="Inter"/>
                <a:ea typeface="Inter"/>
                <a:cs typeface="Inter"/>
                <a:sym typeface="Inter"/>
              </a:rPr>
              <a:t>220 minutes</a:t>
            </a:r>
            <a:r>
              <a:rPr lang="en">
                <a:solidFill>
                  <a:srgbClr val="57606A"/>
                </a:solidFill>
                <a:latin typeface="Inter"/>
                <a:ea typeface="Inter"/>
                <a:cs typeface="Inter"/>
                <a:sym typeface="Inter"/>
              </a:rPr>
              <a:t> into the session by this slide.</a:t>
            </a:r>
            <a:endParaRPr>
              <a:solidFill>
                <a:srgbClr val="57606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7606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24292F"/>
                </a:solidFill>
                <a:latin typeface="Inter"/>
                <a:ea typeface="Inter"/>
                <a:cs typeface="Inter"/>
                <a:sym typeface="Inter"/>
              </a:rPr>
              <a:t>Key talking points:</a:t>
            </a:r>
            <a:endParaRPr sz="13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>
                <a:solidFill>
                  <a:srgbClr val="57606A"/>
                </a:solidFill>
                <a:latin typeface="Inter"/>
                <a:ea typeface="Inter"/>
                <a:cs typeface="Inter"/>
                <a:sym typeface="Inter"/>
              </a:rPr>
              <a:t>Does anyone have any questions about anything we covered today?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4292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6278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63A64E-4E37-E14E-3575-CE18BC21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D24E2-4AEE-C7CF-8500-FFFD4CB8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40C4F-8FF2-0DFD-B16A-1130CDC7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20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A363C8-24DE-C363-A3B2-3A9D6B762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62362" y="6746440"/>
            <a:ext cx="1506893" cy="42245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F59582-6E3C-3256-E6B1-3C07BDD69F76}"/>
              </a:ext>
            </a:extLst>
          </p:cNvPr>
          <p:cNvSpPr/>
          <p:nvPr userDrawn="1"/>
        </p:nvSpPr>
        <p:spPr>
          <a:xfrm>
            <a:off x="0" y="0"/>
            <a:ext cx="10440986" cy="792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LS ELECTRIC">
            <a:extLst>
              <a:ext uri="{FF2B5EF4-FFF2-40B4-BE49-F238E27FC236}">
                <a16:creationId xmlns:a16="http://schemas.microsoft.com/office/drawing/2014/main" id="{2EEBD15E-EBF9-069C-5BDF-71C2A17F3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96" y="6808228"/>
            <a:ext cx="1354504" cy="21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38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1271-8CE8-521F-58F4-1E2BCD74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1822450"/>
            <a:ext cx="9004300" cy="3040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976992-9DF1-6C19-D312-58B6C159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788" y="4891088"/>
            <a:ext cx="9004300" cy="15986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DF7522-DA5B-C4A8-033F-F9AD0DC4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D3DE9-EEBA-E7FE-A35C-F71B3949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AE35C-3843-7039-EBB4-E961B23F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27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18986-3FDD-8F4E-5ABE-2BB6F4C4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EA52FF-317F-2DD0-0654-F1F09477C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550" y="1946275"/>
            <a:ext cx="4425950" cy="46370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B55433-3ED7-9764-C5DE-4EA29A7E3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5900" y="1946275"/>
            <a:ext cx="4427538" cy="46370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CC80C6-F85D-A2D1-34A9-484AB261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75D93-3798-3EC6-4434-58CDA294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AE4C74-174A-0F68-B223-B60E7805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77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66303-3FDD-ACC4-FDDA-9EF910A49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388938"/>
            <a:ext cx="9005887" cy="1412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314756-FEBD-C01D-FF25-28F41C43F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792288"/>
            <a:ext cx="4416425" cy="8778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9AF45F-1A86-1DEA-559F-E75D8E5EC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138" y="2670175"/>
            <a:ext cx="4416425" cy="39258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543EAA-FAB1-CA3A-F32F-AA5322B07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86375" y="1792288"/>
            <a:ext cx="4438650" cy="8778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883565-F95E-2F08-8E5D-9DB9A5A01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86375" y="2670175"/>
            <a:ext cx="4438650" cy="39258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0F3F94-17D6-03A4-4CCE-FE19BAF7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C7FBE7-E37B-273F-78B5-45A68A42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05F358-42D5-F7BE-D068-13728251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1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70426-54D4-49B4-E580-35B99A9A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A5D428-C8AF-DC0F-101D-19AF8E10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BC6668-282C-3685-4B6F-25A5C42F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DED41-70F2-BADF-15B7-6C044B7F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98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3642D2-FCA9-8498-4B16-355B5E89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C82B77-4A34-133D-DBE2-C5682460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7B31E-E3FF-13B1-B197-E7A612E7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F64D0-9545-56D9-13B9-EB5A18430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487363"/>
            <a:ext cx="3367087" cy="1704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4FE3C-4764-C305-658B-F71EE8D2E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650" y="1052513"/>
            <a:ext cx="5286375" cy="51943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7C1F00-B17D-53B8-FACB-9B8186543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38" y="2192338"/>
            <a:ext cx="3367087" cy="40624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243E11-C95C-9334-1769-1FCC330E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366D43-C395-6892-76AB-2443E73B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83AECA-8FC9-1A70-16F5-EC3E28C1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46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3F460-2AE3-3887-E597-0B4011E8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487363"/>
            <a:ext cx="3367087" cy="1704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FD4FA6-0FCE-7D25-0648-6C859D54A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38650" y="1052513"/>
            <a:ext cx="5286375" cy="51943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7E91B2-5812-875C-AA9D-B650B8328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38" y="2192338"/>
            <a:ext cx="3367087" cy="40624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897BAD-95AA-1A29-A86D-C04F2CFE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57A165-31B9-4B51-1BA2-05FF9D71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BB2720-21B3-8924-3AB6-4105AFF7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2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BE199-13C9-501E-5422-52FAB81C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A88DF1-79BF-A778-D14B-BBCD9B03C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346A8-14A1-7B50-AA30-A7CFCD96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D92CF-9F24-84F3-0C4E-E9A8B475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9737F-DF66-365C-D913-23959A6C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8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BF2C69-8019-40B5-F024-958EAFFD5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472363" y="388938"/>
            <a:ext cx="2251075" cy="6194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D9ADDF-CDB0-8508-2B7B-3BAD24211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17550" y="388938"/>
            <a:ext cx="6602413" cy="6194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0E8E2-EBD1-ACBF-B6FD-CF87E5B9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396F27-2196-5F68-28E8-7CDD46C2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7A5CF-7DD4-0D88-AB4E-E2399BD2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2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407C-6E8C-2B4B-B2B2-EF74A7129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124" y="1196148"/>
            <a:ext cx="7830741" cy="2544563"/>
          </a:xfrm>
        </p:spPr>
        <p:txBody>
          <a:bodyPr anchor="b"/>
          <a:lstStyle>
            <a:lvl1pPr algn="ctr">
              <a:defRPr sz="513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A94C0-EA8F-F543-B1B0-D4C957C2C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124" y="3838839"/>
            <a:ext cx="7830741" cy="1764613"/>
          </a:xfrm>
        </p:spPr>
        <p:txBody>
          <a:bodyPr/>
          <a:lstStyle>
            <a:lvl1pPr marL="0" indent="0" algn="ctr">
              <a:buNone/>
              <a:defRPr sz="2055"/>
            </a:lvl1pPr>
            <a:lvl2pPr marL="391546" indent="0" algn="ctr">
              <a:buNone/>
              <a:defRPr sz="1713"/>
            </a:lvl2pPr>
            <a:lvl3pPr marL="783092" indent="0" algn="ctr">
              <a:buNone/>
              <a:defRPr sz="1542"/>
            </a:lvl3pPr>
            <a:lvl4pPr marL="1174638" indent="0" algn="ctr">
              <a:buNone/>
              <a:defRPr sz="1370"/>
            </a:lvl4pPr>
            <a:lvl5pPr marL="1566184" indent="0" algn="ctr">
              <a:buNone/>
              <a:defRPr sz="1370"/>
            </a:lvl5pPr>
            <a:lvl6pPr marL="1957730" indent="0" algn="ctr">
              <a:buNone/>
              <a:defRPr sz="1370"/>
            </a:lvl6pPr>
            <a:lvl7pPr marL="2349276" indent="0" algn="ctr">
              <a:buNone/>
              <a:defRPr sz="1370"/>
            </a:lvl7pPr>
            <a:lvl8pPr marL="2740823" indent="0" algn="ctr">
              <a:buNone/>
              <a:defRPr sz="1370"/>
            </a:lvl8pPr>
            <a:lvl9pPr marL="3132369" indent="0" algn="ctr">
              <a:buNone/>
              <a:defRPr sz="137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F65AB4-CB1E-48FC-B551-4648865BA5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24107" y="6725740"/>
            <a:ext cx="1062743" cy="3905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3AFDBD-8907-453C-8C4F-66CF8FBB2A39}"/>
              </a:ext>
            </a:extLst>
          </p:cNvPr>
          <p:cNvSpPr/>
          <p:nvPr userDrawn="1"/>
        </p:nvSpPr>
        <p:spPr>
          <a:xfrm>
            <a:off x="0" y="6725740"/>
            <a:ext cx="1503502" cy="583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42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C5536D-C761-466E-B96D-411E01C251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36666" r="9063" b="38519"/>
          <a:stretch/>
        </p:blipFill>
        <p:spPr>
          <a:xfrm>
            <a:off x="7560721" y="6763612"/>
            <a:ext cx="1473544" cy="3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01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Provider 1" userDrawn="1">
  <p:cSld name="7.1 Provide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6"/>
          <p:cNvSpPr txBox="1">
            <a:spLocks noGrp="1"/>
          </p:cNvSpPr>
          <p:nvPr>
            <p:ph type="title"/>
          </p:nvPr>
        </p:nvSpPr>
        <p:spPr>
          <a:xfrm>
            <a:off x="2183084" y="3595383"/>
            <a:ext cx="7909871" cy="62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a Sans"/>
              <a:buNone/>
              <a:defRPr sz="3654" b="1">
                <a:solidFill>
                  <a:schemeClr val="dk1"/>
                </a:solidFill>
                <a:latin typeface="Mona Sans"/>
                <a:ea typeface="Mona Sans"/>
                <a:cs typeface="Mona Sans"/>
                <a:sym typeface="Mona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740"/>
            </a:lvl9pPr>
          </a:lstStyle>
          <a:p>
            <a:endParaRPr/>
          </a:p>
        </p:txBody>
      </p:sp>
      <p:sp>
        <p:nvSpPr>
          <p:cNvPr id="493" name="Google Shape;493;p46"/>
          <p:cNvSpPr txBox="1">
            <a:spLocks noGrp="1"/>
          </p:cNvSpPr>
          <p:nvPr>
            <p:ph type="title" idx="3"/>
          </p:nvPr>
        </p:nvSpPr>
        <p:spPr>
          <a:xfrm>
            <a:off x="2183085" y="4324776"/>
            <a:ext cx="6481428" cy="30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a Sans"/>
              <a:buNone/>
              <a:defRPr sz="1827">
                <a:solidFill>
                  <a:schemeClr val="lt2"/>
                </a:solidFill>
                <a:latin typeface="Mona Sans"/>
                <a:ea typeface="Mona Sans"/>
                <a:cs typeface="Mona Sans"/>
                <a:sym typeface="Mona Sans"/>
              </a:defRPr>
            </a:lvl9pPr>
          </a:lstStyle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701E38-C3A0-4FC1-DEFD-9371F060A6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462" y="195506"/>
            <a:ext cx="442913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0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Big Text Dark">
  <p:cSld name="6.2 Big Text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2069700" y="2790962"/>
            <a:ext cx="6301588" cy="1726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a Sans"/>
              <a:buNone/>
              <a:defRPr sz="6851" b="1">
                <a:solidFill>
                  <a:schemeClr val="dk1"/>
                </a:solidFill>
                <a:latin typeface="Mona Sans"/>
                <a:ea typeface="Mona Sans"/>
                <a:cs typeface="Mona Sans"/>
                <a:sym typeface="Mona Sans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851"/>
            </a:lvl9pPr>
          </a:lstStyle>
          <a:p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9926447" y="324839"/>
            <a:ext cx="253515" cy="308955"/>
          </a:xfrm>
          <a:custGeom>
            <a:avLst/>
            <a:gdLst/>
            <a:ahLst/>
            <a:cxnLst/>
            <a:rect l="l" t="t" r="r" b="b"/>
            <a:pathLst>
              <a:path w="2429" h="2379" extrusionOk="0">
                <a:moveTo>
                  <a:pt x="1214" y="0"/>
                </a:moveTo>
                <a:cubicBezTo>
                  <a:pt x="540" y="0"/>
                  <a:pt x="0" y="548"/>
                  <a:pt x="0" y="1214"/>
                </a:cubicBezTo>
                <a:cubicBezTo>
                  <a:pt x="0" y="1754"/>
                  <a:pt x="346" y="2201"/>
                  <a:pt x="826" y="2370"/>
                </a:cubicBezTo>
                <a:cubicBezTo>
                  <a:pt x="885" y="2378"/>
                  <a:pt x="911" y="2336"/>
                  <a:pt x="911" y="2311"/>
                </a:cubicBezTo>
                <a:cubicBezTo>
                  <a:pt x="911" y="2277"/>
                  <a:pt x="911" y="2184"/>
                  <a:pt x="911" y="2083"/>
                </a:cubicBezTo>
                <a:cubicBezTo>
                  <a:pt x="607" y="2142"/>
                  <a:pt x="531" y="2007"/>
                  <a:pt x="506" y="1940"/>
                </a:cubicBezTo>
                <a:cubicBezTo>
                  <a:pt x="489" y="1906"/>
                  <a:pt x="430" y="1796"/>
                  <a:pt x="379" y="1771"/>
                </a:cubicBezTo>
                <a:cubicBezTo>
                  <a:pt x="337" y="1746"/>
                  <a:pt x="278" y="1687"/>
                  <a:pt x="379" y="1687"/>
                </a:cubicBezTo>
                <a:cubicBezTo>
                  <a:pt x="472" y="1687"/>
                  <a:pt x="540" y="1779"/>
                  <a:pt x="565" y="1813"/>
                </a:cubicBezTo>
                <a:cubicBezTo>
                  <a:pt x="675" y="1999"/>
                  <a:pt x="843" y="1948"/>
                  <a:pt x="919" y="1914"/>
                </a:cubicBezTo>
                <a:cubicBezTo>
                  <a:pt x="928" y="1830"/>
                  <a:pt x="961" y="1779"/>
                  <a:pt x="995" y="1754"/>
                </a:cubicBezTo>
                <a:cubicBezTo>
                  <a:pt x="725" y="1720"/>
                  <a:pt x="439" y="1619"/>
                  <a:pt x="439" y="1155"/>
                </a:cubicBezTo>
                <a:cubicBezTo>
                  <a:pt x="439" y="1020"/>
                  <a:pt x="489" y="911"/>
                  <a:pt x="565" y="826"/>
                </a:cubicBezTo>
                <a:cubicBezTo>
                  <a:pt x="557" y="793"/>
                  <a:pt x="514" y="675"/>
                  <a:pt x="582" y="506"/>
                </a:cubicBezTo>
                <a:cubicBezTo>
                  <a:pt x="582" y="506"/>
                  <a:pt x="683" y="472"/>
                  <a:pt x="911" y="633"/>
                </a:cubicBezTo>
                <a:cubicBezTo>
                  <a:pt x="1012" y="599"/>
                  <a:pt x="1113" y="590"/>
                  <a:pt x="1214" y="590"/>
                </a:cubicBezTo>
                <a:cubicBezTo>
                  <a:pt x="1316" y="590"/>
                  <a:pt x="1425" y="599"/>
                  <a:pt x="1518" y="633"/>
                </a:cubicBezTo>
                <a:cubicBezTo>
                  <a:pt x="1754" y="472"/>
                  <a:pt x="1855" y="506"/>
                  <a:pt x="1855" y="506"/>
                </a:cubicBezTo>
                <a:cubicBezTo>
                  <a:pt x="1914" y="675"/>
                  <a:pt x="1872" y="793"/>
                  <a:pt x="1864" y="826"/>
                </a:cubicBezTo>
                <a:cubicBezTo>
                  <a:pt x="1940" y="911"/>
                  <a:pt x="1990" y="1020"/>
                  <a:pt x="1990" y="1155"/>
                </a:cubicBezTo>
                <a:cubicBezTo>
                  <a:pt x="1990" y="1619"/>
                  <a:pt x="1703" y="1720"/>
                  <a:pt x="1434" y="1754"/>
                </a:cubicBezTo>
                <a:cubicBezTo>
                  <a:pt x="1476" y="1788"/>
                  <a:pt x="1518" y="1864"/>
                  <a:pt x="1518" y="1973"/>
                </a:cubicBezTo>
                <a:cubicBezTo>
                  <a:pt x="1518" y="2134"/>
                  <a:pt x="1518" y="2269"/>
                  <a:pt x="1518" y="2311"/>
                </a:cubicBezTo>
                <a:cubicBezTo>
                  <a:pt x="1518" y="2336"/>
                  <a:pt x="1535" y="2378"/>
                  <a:pt x="1602" y="2370"/>
                </a:cubicBezTo>
                <a:cubicBezTo>
                  <a:pt x="2075" y="2201"/>
                  <a:pt x="2429" y="1754"/>
                  <a:pt x="2429" y="1214"/>
                </a:cubicBezTo>
                <a:cubicBezTo>
                  <a:pt x="2429" y="548"/>
                  <a:pt x="1881" y="0"/>
                  <a:pt x="12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4393" tIns="104393" rIns="104393" bIns="10439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6">
              <a:solidFill>
                <a:srgbClr val="D2D9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594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E07530-B44C-B0FA-3130-9EA9411B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88938"/>
            <a:ext cx="9005888" cy="1412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E2FCC-39CF-7BB4-6EDE-A3DC5CCBC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7550" y="1946275"/>
            <a:ext cx="9005888" cy="4637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3B542-CD06-C549-3E4F-441F9E789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50" y="6773863"/>
            <a:ext cx="2349500" cy="388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3D7A2-7599-49D3-9A29-3595CAEF200D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53A73C-9D5D-C6A9-B1A4-EFAC52AD8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59163" y="6773863"/>
            <a:ext cx="3522662" cy="388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AD395-3237-067E-8A4A-C59901F27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73938" y="6773863"/>
            <a:ext cx="2349500" cy="388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A429E-A674-4AB5-8259-67A5F7D59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2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  <p:sldLayoutId id="2147484216" r:id="rId12"/>
    <p:sldLayoutId id="2147484217" r:id="rId13"/>
    <p:sldLayoutId id="2147484218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usma21/GitHub-Copilot-HoL/blob/main/MockWinAppInstaller/docs/coding-conventions-commentary.md" TargetMode="External"/><Relationship Id="rId13" Type="http://schemas.openxmlformats.org/officeDocument/2006/relationships/hyperlink" Target="https://github.com/musma21/GitHub-Copilot-HoL/blob/main/MockWinAppInstaller/docs/customer-sample-copilot-instruction.md" TargetMode="External"/><Relationship Id="rId3" Type="http://schemas.openxmlformats.org/officeDocument/2006/relationships/hyperlink" Target="https://cdn.microbiz.ai/public/GHE/GHEC-OIDC-SSO-Config.pdf" TargetMode="External"/><Relationship Id="rId7" Type="http://schemas.openxmlformats.org/officeDocument/2006/relationships/hyperlink" Target="https://github.com/musma21/GitHub-Copilot-HoL/blob/main/MockWinAppInstaller/docs/customizing-GHCP-response-ko.md" TargetMode="External"/><Relationship Id="rId12" Type="http://schemas.openxmlformats.org/officeDocument/2006/relationships/hyperlink" Target="https://github.com/musma21/GitHub-Copilot-HoL/blob/main/MockWinAppInstaller/docs/session-2025-11-05-commands.txt" TargetMode="External"/><Relationship Id="rId2" Type="http://schemas.openxmlformats.org/officeDocument/2006/relationships/hyperlink" Target="https://cdn.microbiz.ai/public/GHE/GHEC-SAML-SSO-Config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usma21/public-download/blob/main/public/GHE/github-copilot-instructions.md-guide.pdf" TargetMode="External"/><Relationship Id="rId11" Type="http://schemas.openxmlformats.org/officeDocument/2006/relationships/hyperlink" Target="https://github.com/musma21/GitHub-Copilot-HoL/tree/main/MockWinAppInstaller#-next-steps-optional" TargetMode="External"/><Relationship Id="rId5" Type="http://schemas.openxmlformats.org/officeDocument/2006/relationships/hyperlink" Target="https://cdn.microbiz.ai/public/GHE/GHE_GHCP_Introduction_251024-soeun.pdf" TargetMode="External"/><Relationship Id="rId15" Type="http://schemas.openxmlformats.org/officeDocument/2006/relationships/image" Target="../media/image12.png"/><Relationship Id="rId10" Type="http://schemas.openxmlformats.org/officeDocument/2006/relationships/hyperlink" Target="https://github.com/musma21/GitHub-Copilot-HoL/blob/main/MockWinAppInstaller/docs/sample-prompt.md" TargetMode="External"/><Relationship Id="rId4" Type="http://schemas.openxmlformats.org/officeDocument/2006/relationships/hyperlink" Target="https://cdn.microbiz.ai/public/GHE/251012_GitHub%20Enterprise%20Cloud%20EMU%20Configuration_KyungbinOh_v1.0.pdf" TargetMode="External"/><Relationship Id="rId9" Type="http://schemas.openxmlformats.org/officeDocument/2006/relationships/hyperlink" Target="https://github.com/musma21/GitHub-Copilot-HoL/blob/main/MockWinAppInstaller/docs/AGENTS-commentary.md" TargetMode="External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5"/>
          <p:cNvSpPr txBox="1">
            <a:spLocks noGrp="1"/>
          </p:cNvSpPr>
          <p:nvPr>
            <p:ph type="title"/>
          </p:nvPr>
        </p:nvSpPr>
        <p:spPr>
          <a:xfrm>
            <a:off x="1114428" y="2572833"/>
            <a:ext cx="8292730" cy="1261784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br>
              <a:rPr lang="en" sz="4500" dirty="0">
                <a:solidFill>
                  <a:schemeClr val="bg1"/>
                </a:solidFill>
                <a:latin typeface="+mj-lt"/>
              </a:rPr>
            </a:br>
            <a:r>
              <a:rPr lang="en" sz="4500" dirty="0">
                <a:solidFill>
                  <a:schemeClr val="bg1"/>
                </a:solidFill>
                <a:latin typeface="+mj-lt"/>
              </a:rPr>
              <a:t>LS ELECTRIC Digital HW</a:t>
            </a:r>
            <a:r>
              <a:rPr lang="ko-KR" altLang="en-US" sz="4500" dirty="0">
                <a:solidFill>
                  <a:schemeClr val="bg1"/>
                </a:solidFill>
                <a:latin typeface="+mj-lt"/>
              </a:rPr>
              <a:t>팀</a:t>
            </a:r>
            <a:br>
              <a:rPr lang="en-US" altLang="ko-KR" sz="4500" dirty="0">
                <a:solidFill>
                  <a:schemeClr val="bg1"/>
                </a:solidFill>
                <a:latin typeface="+mj-lt"/>
              </a:rPr>
            </a:br>
            <a:r>
              <a:rPr lang="en" sz="4500" dirty="0">
                <a:solidFill>
                  <a:schemeClr val="bg1"/>
                </a:solidFill>
                <a:latin typeface="+mj-lt"/>
              </a:rPr>
              <a:t>GitHub Copilot PoC </a:t>
            </a:r>
            <a:r>
              <a:rPr lang="ko-KR" altLang="en-US" sz="4500" dirty="0">
                <a:solidFill>
                  <a:schemeClr val="bg1"/>
                </a:solidFill>
                <a:latin typeface="+mj-lt"/>
              </a:rPr>
              <a:t>보고 </a:t>
            </a:r>
            <a:endParaRPr sz="4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58" name="Google Shape;658;p65"/>
          <p:cNvSpPr txBox="1">
            <a:spLocks noGrp="1"/>
          </p:cNvSpPr>
          <p:nvPr>
            <p:ph type="title" idx="3"/>
          </p:nvPr>
        </p:nvSpPr>
        <p:spPr>
          <a:xfrm>
            <a:off x="2183085" y="4464554"/>
            <a:ext cx="6481428" cy="57893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altLang="ko-KR" sz="1800" dirty="0">
                <a:latin typeface="+mn-ea"/>
                <a:ea typeface="+mn-ea"/>
              </a:rPr>
              <a:t>2025</a:t>
            </a:r>
            <a:r>
              <a:rPr lang="ko-KR" altLang="en-US" sz="1800" dirty="0">
                <a:latin typeface="+mn-ea"/>
                <a:ea typeface="+mn-ea"/>
              </a:rPr>
              <a:t>년 </a:t>
            </a:r>
            <a:r>
              <a:rPr lang="en-US" altLang="ko-KR" sz="1800" dirty="0">
                <a:latin typeface="+mn-ea"/>
                <a:ea typeface="+mn-ea"/>
              </a:rPr>
              <a:t>11</a:t>
            </a:r>
            <a:r>
              <a:rPr lang="ko-KR" altLang="en-US" sz="1800" dirty="0">
                <a:latin typeface="+mn-ea"/>
                <a:ea typeface="+mn-ea"/>
              </a:rPr>
              <a:t>월 </a:t>
            </a:r>
            <a:r>
              <a:rPr lang="en-US" altLang="ko-KR" sz="1800" dirty="0">
                <a:latin typeface="+mn-ea"/>
                <a:ea typeface="+mn-ea"/>
              </a:rPr>
              <a:t>13</a:t>
            </a:r>
            <a:r>
              <a:rPr lang="ko-KR" altLang="en-US" sz="1800" dirty="0">
                <a:latin typeface="+mn-ea"/>
                <a:ea typeface="+mn-ea"/>
              </a:rPr>
              <a:t>일 </a:t>
            </a:r>
            <a:br>
              <a:rPr lang="en-US" altLang="ko-KR" sz="1800" dirty="0">
                <a:latin typeface="+mn-ea"/>
                <a:ea typeface="+mn-ea"/>
              </a:rPr>
            </a:br>
            <a:r>
              <a:rPr lang="ko-KR" altLang="en-US" sz="1800" dirty="0">
                <a:latin typeface="+mn-ea"/>
                <a:ea typeface="+mn-ea"/>
              </a:rPr>
              <a:t>마이크로소프트</a:t>
            </a:r>
            <a:r>
              <a:rPr lang="en-US" altLang="ko-KR" sz="1800" dirty="0">
                <a:latin typeface="+mn-ea"/>
                <a:ea typeface="+mn-ea"/>
              </a:rPr>
              <a:t>,</a:t>
            </a:r>
            <a:r>
              <a:rPr lang="ko-KR" altLang="en-US" sz="1800" dirty="0">
                <a:latin typeface="+mn-ea"/>
                <a:ea typeface="+mn-ea"/>
              </a:rPr>
              <a:t> </a:t>
            </a:r>
            <a:r>
              <a:rPr lang="ko-KR" altLang="en-US" sz="1800" dirty="0" err="1">
                <a:latin typeface="+mn-ea"/>
                <a:ea typeface="+mn-ea"/>
              </a:rPr>
              <a:t>박소은</a:t>
            </a:r>
            <a:r>
              <a:rPr lang="en-US" altLang="ko-KR" sz="1800" dirty="0">
                <a:latin typeface="+mn-ea"/>
                <a:ea typeface="+mn-ea"/>
              </a:rPr>
              <a:t>/</a:t>
            </a:r>
            <a:r>
              <a:rPr lang="ko-KR" altLang="en-US" sz="1800" dirty="0">
                <a:latin typeface="+mn-ea"/>
                <a:ea typeface="+mn-ea"/>
              </a:rPr>
              <a:t> </a:t>
            </a:r>
            <a:r>
              <a:rPr lang="ko-KR" altLang="en-US" sz="1800" dirty="0" err="1">
                <a:latin typeface="+mn-ea"/>
                <a:ea typeface="+mn-ea"/>
              </a:rPr>
              <a:t>오경빈</a:t>
            </a:r>
            <a:r>
              <a:rPr lang="en-US" altLang="ko-KR" sz="1800" dirty="0">
                <a:latin typeface="+mn-ea"/>
                <a:ea typeface="+mn-ea"/>
              </a:rPr>
              <a:t>/</a:t>
            </a:r>
            <a:r>
              <a:rPr lang="ko-KR" altLang="en-US" sz="1800" dirty="0">
                <a:latin typeface="+mn-ea"/>
                <a:ea typeface="+mn-ea"/>
              </a:rPr>
              <a:t> 이승희</a:t>
            </a:r>
            <a:endParaRPr sz="18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5DFA-9A87-F696-49A6-4AAC2F37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A73EAA-961F-3D5B-CC03-9281F774CB03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+mn-ea"/>
                <a:ea typeface="+mn-ea"/>
              </a:rPr>
              <a:t>1.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PoC 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목표</a:t>
            </a:r>
            <a:endParaRPr kumimoji="0" lang="ko-KR" altLang="en-US" sz="2800" b="1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9AF26-2FB5-5510-68A9-179DC792CFDD}"/>
              </a:ext>
            </a:extLst>
          </p:cNvPr>
          <p:cNvSpPr txBox="1"/>
          <p:nvPr/>
        </p:nvSpPr>
        <p:spPr>
          <a:xfrm>
            <a:off x="478973" y="1065287"/>
            <a:ext cx="91059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latin typeface="+mn-ea"/>
                <a:ea typeface="+mn-ea"/>
              </a:rPr>
              <a:t>형상 관리 시스템 현대화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전환 내용</a:t>
            </a:r>
            <a:r>
              <a:rPr lang="en-US" altLang="ko-KR" sz="1600" dirty="0">
                <a:latin typeface="+mn-ea"/>
                <a:ea typeface="+mn-ea"/>
              </a:rPr>
              <a:t>: (</a:t>
            </a:r>
            <a:r>
              <a:rPr lang="ko-KR" altLang="en-US" sz="1600" dirty="0">
                <a:latin typeface="+mn-ea"/>
                <a:ea typeface="+mn-ea"/>
              </a:rPr>
              <a:t>기존 </a:t>
            </a:r>
            <a:r>
              <a:rPr lang="en-US" altLang="ko-KR" sz="1600" dirty="0">
                <a:latin typeface="+mn-ea"/>
                <a:ea typeface="+mn-ea"/>
              </a:rPr>
              <a:t>SVN →) GitHub Enterprise Cloud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핵심 가치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분산 버전 관리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풀 </a:t>
            </a:r>
            <a:r>
              <a:rPr lang="ko-KR" altLang="en-US" sz="1600" dirty="0" err="1">
                <a:latin typeface="+mn-ea"/>
                <a:ea typeface="+mn-ea"/>
              </a:rPr>
              <a:t>리퀘스트</a:t>
            </a:r>
            <a:r>
              <a:rPr lang="ko-KR" altLang="en-US" sz="1600" dirty="0">
                <a:latin typeface="+mn-ea"/>
                <a:ea typeface="+mn-ea"/>
              </a:rPr>
              <a:t> 기반 코드 리뷰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실시간 협업 환경 구축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전략적 의미</a:t>
            </a:r>
            <a:r>
              <a:rPr lang="en-US" altLang="ko-KR" sz="1600" dirty="0"/>
              <a:t>: </a:t>
            </a:r>
            <a:r>
              <a:rPr lang="en-US" sz="1600" dirty="0"/>
              <a:t>AI </a:t>
            </a:r>
            <a:r>
              <a:rPr lang="ko-KR" altLang="en-US" sz="1600" dirty="0"/>
              <a:t>기반 개발 워크플로우의 견고한 </a:t>
            </a:r>
            <a:r>
              <a:rPr lang="ko-KR" altLang="en-US" sz="1600" b="1" dirty="0"/>
              <a:t>토대</a:t>
            </a:r>
            <a:r>
              <a:rPr lang="en-US" sz="1600" dirty="0"/>
              <a:t> </a:t>
            </a:r>
            <a:r>
              <a:rPr lang="ko-KR" altLang="en-US" sz="1600" dirty="0"/>
              <a:t>마련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17060-3FDD-F047-3C40-AD5D81DF90A1}"/>
              </a:ext>
            </a:extLst>
          </p:cNvPr>
          <p:cNvSpPr txBox="1"/>
          <p:nvPr/>
        </p:nvSpPr>
        <p:spPr>
          <a:xfrm>
            <a:off x="478973" y="2363856"/>
            <a:ext cx="9105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ko-KR" sz="2000" b="1" dirty="0">
                <a:latin typeface="+mn-ea"/>
                <a:ea typeface="+mn-ea"/>
              </a:rPr>
              <a:t>AI </a:t>
            </a:r>
            <a:r>
              <a:rPr lang="ko-KR" altLang="en-US" sz="2000" b="1" dirty="0">
                <a:latin typeface="+mn-ea"/>
                <a:ea typeface="+mn-ea"/>
              </a:rPr>
              <a:t>코딩 어시스턴트 도입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도입 도구</a:t>
            </a:r>
            <a:r>
              <a:rPr lang="en-US" altLang="ko-KR" sz="1600" dirty="0">
                <a:latin typeface="+mn-ea"/>
                <a:ea typeface="+mn-ea"/>
              </a:rPr>
              <a:t>: GitHub Copilot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핵심 효과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코드 자동완성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패턴 인식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반복 작업 자동화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기대 성과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개발 </a:t>
            </a:r>
            <a:r>
              <a:rPr lang="ko-KR" altLang="en-US" sz="1600" b="1" dirty="0">
                <a:latin typeface="+mn-ea"/>
                <a:ea typeface="+mn-ea"/>
              </a:rPr>
              <a:t>생산성 </a:t>
            </a:r>
            <a:r>
              <a:rPr lang="en-US" sz="1600" dirty="0">
                <a:latin typeface="+mn-ea"/>
                <a:ea typeface="+mn-ea"/>
              </a:rPr>
              <a:t>30-50% </a:t>
            </a:r>
            <a:r>
              <a:rPr lang="ko-KR" altLang="en-US" sz="1600" dirty="0">
                <a:latin typeface="+mn-ea"/>
                <a:ea typeface="+mn-ea"/>
              </a:rPr>
              <a:t>향상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코드 </a:t>
            </a:r>
            <a:r>
              <a:rPr lang="ko-KR" altLang="en-US" sz="1600" b="1" dirty="0">
                <a:latin typeface="+mn-ea"/>
                <a:ea typeface="+mn-ea"/>
              </a:rPr>
              <a:t>품질 일관성</a:t>
            </a:r>
            <a:r>
              <a:rPr lang="ko-KR" altLang="en-US" sz="1600" dirty="0">
                <a:latin typeface="+mn-ea"/>
                <a:ea typeface="+mn-ea"/>
              </a:rPr>
              <a:t> 확보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코드 품질 및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규약 및 정책 강제</a:t>
            </a:r>
            <a:endParaRPr lang="en-US" sz="160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8E40F-BB34-10EB-4679-F47060CA4EF5}"/>
              </a:ext>
            </a:extLst>
          </p:cNvPr>
          <p:cNvSpPr txBox="1"/>
          <p:nvPr/>
        </p:nvSpPr>
        <p:spPr>
          <a:xfrm>
            <a:off x="478973" y="3908647"/>
            <a:ext cx="91059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ko-KR" sz="2000" b="1" dirty="0">
                <a:latin typeface="+mn-ea"/>
                <a:ea typeface="+mn-ea"/>
              </a:rPr>
              <a:t>AI </a:t>
            </a:r>
            <a:r>
              <a:rPr lang="ko-KR" altLang="en-US" sz="2000" b="1" dirty="0">
                <a:latin typeface="+mn-ea"/>
                <a:ea typeface="+mn-ea"/>
              </a:rPr>
              <a:t>코딩 환경 최적화 컨설팅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서비스 범위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en-US" sz="1600" dirty="0">
                <a:latin typeface="+mn-ea"/>
                <a:ea typeface="+mn-ea"/>
              </a:rPr>
              <a:t>GitHub Copilot </a:t>
            </a:r>
            <a:r>
              <a:rPr lang="ko-KR" altLang="en-US" sz="1600" dirty="0">
                <a:latin typeface="+mn-ea"/>
                <a:ea typeface="+mn-ea"/>
              </a:rPr>
              <a:t>커스터마이징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시스템 </a:t>
            </a:r>
            <a:r>
              <a:rPr lang="ko-KR" altLang="en-US" sz="1600" dirty="0" err="1">
                <a:latin typeface="+mn-ea"/>
                <a:ea typeface="+mn-ea"/>
              </a:rPr>
              <a:t>프롬프팅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en-US" sz="1600" dirty="0" err="1">
                <a:latin typeface="+mn-ea"/>
                <a:ea typeface="+mn-ea"/>
              </a:rPr>
              <a:t>Instruction.md</a:t>
            </a:r>
            <a:r>
              <a:rPr lang="en-US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구성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핵심 가치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디지털 </a:t>
            </a:r>
            <a:r>
              <a:rPr lang="ko-KR" altLang="en-US" sz="1600" dirty="0" err="1">
                <a:latin typeface="+mn-ea"/>
                <a:ea typeface="+mn-ea"/>
              </a:rPr>
              <a:t>계전기</a:t>
            </a:r>
            <a:r>
              <a:rPr lang="ko-KR" altLang="en-US" sz="1600" dirty="0">
                <a:latin typeface="+mn-ea"/>
                <a:ea typeface="+mn-ea"/>
              </a:rPr>
              <a:t> 특화 </a:t>
            </a:r>
            <a:r>
              <a:rPr lang="en-US" sz="1600" dirty="0">
                <a:latin typeface="+mn-ea"/>
                <a:ea typeface="+mn-ea"/>
              </a:rPr>
              <a:t>AI </a:t>
            </a:r>
            <a:r>
              <a:rPr lang="ko-KR" altLang="en-US" sz="1600" dirty="0">
                <a:latin typeface="+mn-ea"/>
                <a:ea typeface="+mn-ea"/>
              </a:rPr>
              <a:t>코딩 환경 구축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전략적 효과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범용 </a:t>
            </a:r>
            <a:r>
              <a:rPr lang="en-US" sz="1600" dirty="0">
                <a:latin typeface="+mn-ea"/>
                <a:ea typeface="+mn-ea"/>
              </a:rPr>
              <a:t>AI </a:t>
            </a:r>
            <a:r>
              <a:rPr lang="ko-KR" altLang="en-US" sz="1600" dirty="0">
                <a:latin typeface="+mn-ea"/>
                <a:ea typeface="+mn-ea"/>
              </a:rPr>
              <a:t>도구의 </a:t>
            </a:r>
            <a:r>
              <a:rPr lang="ko-KR" altLang="en-US" sz="1600" b="1" dirty="0">
                <a:latin typeface="+mn-ea"/>
                <a:ea typeface="+mn-ea"/>
              </a:rPr>
              <a:t>조직 맞춤형 최적화</a:t>
            </a:r>
            <a:r>
              <a:rPr lang="en-US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기술지원 및 업그레이드</a:t>
            </a:r>
            <a:endParaRPr lang="en-US" sz="1600" dirty="0"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45372-388C-73EB-07B0-855EE21BAFFA}"/>
              </a:ext>
            </a:extLst>
          </p:cNvPr>
          <p:cNvSpPr txBox="1"/>
          <p:nvPr/>
        </p:nvSpPr>
        <p:spPr>
          <a:xfrm>
            <a:off x="537707" y="6243563"/>
            <a:ext cx="9047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R" sz="1400" dirty="0">
                <a:latin typeface="+mn-ea"/>
                <a:ea typeface="+mn-ea"/>
              </a:rPr>
              <a:t>📌 </a:t>
            </a:r>
            <a:r>
              <a:rPr lang="en-US" sz="1400" dirty="0">
                <a:latin typeface="+mn-ea"/>
                <a:ea typeface="+mn-ea"/>
              </a:rPr>
              <a:t>GitHub </a:t>
            </a:r>
            <a:r>
              <a:rPr lang="ko-KR" altLang="en-US" sz="1400" dirty="0">
                <a:latin typeface="+mn-ea"/>
                <a:ea typeface="+mn-ea"/>
              </a:rPr>
              <a:t>저장소를 사용하지 않고 로컬 개발을 위주로 하는 </a:t>
            </a:r>
            <a:r>
              <a:rPr lang="en-US" altLang="ko-KR" sz="1400" dirty="0">
                <a:latin typeface="+mn-ea"/>
                <a:ea typeface="+mn-ea"/>
              </a:rPr>
              <a:t>Digital HW</a:t>
            </a:r>
            <a:r>
              <a:rPr lang="ko-KR" altLang="en-US" sz="1400" dirty="0">
                <a:latin typeface="+mn-ea"/>
                <a:ea typeface="+mn-ea"/>
              </a:rPr>
              <a:t>팀의 현황을 고려하여 상세 과제 선정에서는 생산성</a:t>
            </a:r>
            <a:r>
              <a:rPr lang="en-US" altLang="ko-KR" sz="1400" dirty="0">
                <a:latin typeface="+mn-ea"/>
                <a:ea typeface="+mn-ea"/>
              </a:rPr>
              <a:t>,</a:t>
            </a:r>
            <a:r>
              <a:rPr lang="ko-KR" altLang="en-US" sz="1400" dirty="0">
                <a:latin typeface="+mn-ea"/>
                <a:ea typeface="+mn-ea"/>
              </a:rPr>
              <a:t> 코드 완성도에 </a:t>
            </a:r>
            <a:r>
              <a:rPr lang="ko-KR" altLang="en-US" sz="1400" dirty="0" err="1">
                <a:latin typeface="+mn-ea"/>
                <a:ea typeface="+mn-ea"/>
              </a:rPr>
              <a:t>촛점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814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A368-AC97-A7A8-0F3C-782A3830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9C6806A-0688-9EA9-1ECF-E47B5BEB2576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+mn-ea"/>
              </a:rPr>
              <a:t>2.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Digital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HW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</a:rPr>
              <a:t>팀 개발 제품 및 현황</a:t>
            </a:r>
            <a:endParaRPr kumimoji="0" lang="ko-KR" altLang="en-US" sz="2800" b="1" dirty="0">
              <a:latin typeface="+mn-ea"/>
            </a:endParaRPr>
          </a:p>
        </p:txBody>
      </p:sp>
      <p:sp>
        <p:nvSpPr>
          <p:cNvPr id="3" name="AutoShape 1">
            <a:extLst>
              <a:ext uri="{FF2B5EF4-FFF2-40B4-BE49-F238E27FC236}">
                <a16:creationId xmlns:a16="http://schemas.microsoft.com/office/drawing/2014/main" id="{0D1D8DF5-7106-9F4F-0F92-B145C5470C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KR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B2A060-E3FB-D630-80D3-B19EB8E22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957754"/>
            <a:ext cx="6266474" cy="3769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88E6EB-D46C-B61B-AA3D-72BA46CDC038}"/>
              </a:ext>
            </a:extLst>
          </p:cNvPr>
          <p:cNvSpPr txBox="1"/>
          <p:nvPr/>
        </p:nvSpPr>
        <p:spPr>
          <a:xfrm>
            <a:off x="263524" y="4944942"/>
            <a:ext cx="66675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MCU</a:t>
            </a:r>
            <a:r>
              <a:rPr lang="en-US" sz="1000" dirty="0">
                <a:latin typeface="+mn-ea"/>
                <a:ea typeface="+mn-ea"/>
              </a:rPr>
              <a:t> ( Microcontroller Unit ) </a:t>
            </a:r>
            <a:r>
              <a:rPr lang="ko-KR" altLang="en-US" sz="1000" dirty="0">
                <a:latin typeface="+mn-ea"/>
                <a:ea typeface="+mn-ea"/>
              </a:rPr>
              <a:t>각 기능 블록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en-US" sz="1000" dirty="0">
                <a:latin typeface="+mn-ea"/>
                <a:ea typeface="+mn-ea"/>
              </a:rPr>
              <a:t>HMI, COM, Main </a:t>
            </a:r>
            <a:r>
              <a:rPr lang="ko-KR" altLang="en-US" sz="1000" dirty="0">
                <a:latin typeface="+mn-ea"/>
                <a:ea typeface="+mn-ea"/>
              </a:rPr>
              <a:t>등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r>
              <a:rPr lang="ko-KR" altLang="en-US" sz="1000" dirty="0">
                <a:latin typeface="+mn-ea"/>
                <a:ea typeface="+mn-ea"/>
              </a:rPr>
              <a:t>을 제어하는 </a:t>
            </a:r>
            <a:r>
              <a:rPr lang="ko-KR" altLang="en-US" sz="1000" dirty="0" err="1">
                <a:latin typeface="+mn-ea"/>
                <a:ea typeface="+mn-ea"/>
              </a:rPr>
              <a:t>마이크로컨트롤러</a:t>
            </a:r>
            <a:endParaRPr lang="en-US" altLang="ko-KR" sz="1000" dirty="0">
              <a:latin typeface="+mn-ea"/>
              <a:ea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HMI</a:t>
            </a:r>
            <a:r>
              <a:rPr lang="en-US" sz="1000" dirty="0">
                <a:latin typeface="+mn-ea"/>
                <a:ea typeface="+mn-ea"/>
              </a:rPr>
              <a:t> ( Human–Machine Interface ) </a:t>
            </a:r>
            <a:r>
              <a:rPr lang="ko-KR" altLang="en-US" sz="1000" dirty="0">
                <a:latin typeface="+mn-ea"/>
                <a:ea typeface="+mn-ea"/>
              </a:rPr>
              <a:t>사용자 인터페이스 장치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디스플레이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입력장치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COM</a:t>
            </a:r>
            <a:r>
              <a:rPr lang="en-US" sz="1000" dirty="0">
                <a:latin typeface="+mn-ea"/>
                <a:ea typeface="+mn-ea"/>
              </a:rPr>
              <a:t> ( Communication ) </a:t>
            </a:r>
            <a:r>
              <a:rPr lang="ko-KR" altLang="en-US" sz="1000" dirty="0">
                <a:latin typeface="+mn-ea"/>
                <a:ea typeface="+mn-ea"/>
              </a:rPr>
              <a:t>통신 제어용 </a:t>
            </a:r>
            <a:r>
              <a:rPr lang="en-US" sz="1000" dirty="0">
                <a:latin typeface="+mn-ea"/>
                <a:ea typeface="+mn-ea"/>
              </a:rPr>
              <a:t>MCU (Ethernet, Serial </a:t>
            </a:r>
            <a:r>
              <a:rPr lang="ko-KR" altLang="en-US" sz="1000" dirty="0">
                <a:latin typeface="+mn-ea"/>
                <a:ea typeface="+mn-ea"/>
              </a:rPr>
              <a:t>통신 관리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DI/DO</a:t>
            </a:r>
            <a:r>
              <a:rPr lang="en-US" sz="1000" dirty="0">
                <a:latin typeface="+mn-ea"/>
                <a:ea typeface="+mn-ea"/>
              </a:rPr>
              <a:t> ( Digital Input / Digital Output ) </a:t>
            </a:r>
            <a:r>
              <a:rPr lang="ko-KR" altLang="en-US" sz="1000" dirty="0">
                <a:latin typeface="+mn-ea"/>
                <a:ea typeface="+mn-ea"/>
              </a:rPr>
              <a:t>디지털 입력</a:t>
            </a:r>
            <a:r>
              <a:rPr lang="en-US" altLang="ko-KR" sz="1000" dirty="0">
                <a:latin typeface="+mn-ea"/>
                <a:ea typeface="+mn-ea"/>
              </a:rPr>
              <a:t>·</a:t>
            </a:r>
            <a:r>
              <a:rPr lang="ko-KR" altLang="en-US" sz="1000" dirty="0">
                <a:latin typeface="+mn-ea"/>
                <a:ea typeface="+mn-ea"/>
              </a:rPr>
              <a:t>출력 인터페이스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스위치 신호</a:t>
            </a:r>
            <a:r>
              <a:rPr lang="en-US" altLang="ko-KR" sz="1000" dirty="0">
                <a:latin typeface="+mn-ea"/>
                <a:ea typeface="+mn-ea"/>
              </a:rPr>
              <a:t>, </a:t>
            </a:r>
            <a:r>
              <a:rPr lang="ko-KR" altLang="en-US" sz="1000" dirty="0">
                <a:latin typeface="+mn-ea"/>
                <a:ea typeface="+mn-ea"/>
              </a:rPr>
              <a:t>상태 신호 등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DPRAM</a:t>
            </a:r>
            <a:r>
              <a:rPr lang="en-US" sz="1000" dirty="0">
                <a:latin typeface="+mn-ea"/>
                <a:ea typeface="+mn-ea"/>
              </a:rPr>
              <a:t> : ( Dual Port RAM ) Shared memory / parallel bus attachment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AFE</a:t>
            </a:r>
            <a:r>
              <a:rPr lang="en-US" sz="1000" dirty="0">
                <a:latin typeface="+mn-ea"/>
                <a:ea typeface="+mn-ea"/>
              </a:rPr>
              <a:t> ( Analog Front End | </a:t>
            </a:r>
            <a:r>
              <a:rPr lang="ko-KR" altLang="en-US" sz="1000" dirty="0">
                <a:latin typeface="+mn-ea"/>
                <a:ea typeface="+mn-ea"/>
              </a:rPr>
              <a:t>아날로그 신호를 처리하는 전단 회로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전류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전압 측정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CT/PT</a:t>
            </a:r>
            <a:r>
              <a:rPr lang="en-US" sz="1000" dirty="0">
                <a:latin typeface="+mn-ea"/>
                <a:ea typeface="+mn-ea"/>
              </a:rPr>
              <a:t> ( Current Transformer / Potential Transformer ) </a:t>
            </a:r>
            <a:r>
              <a:rPr lang="ko-KR" altLang="en-US" sz="1000" dirty="0">
                <a:latin typeface="+mn-ea"/>
                <a:ea typeface="+mn-ea"/>
              </a:rPr>
              <a:t>전류</a:t>
            </a:r>
            <a:r>
              <a:rPr lang="en-US" altLang="ko-KR" sz="1000" dirty="0">
                <a:latin typeface="+mn-ea"/>
                <a:ea typeface="+mn-ea"/>
              </a:rPr>
              <a:t>·</a:t>
            </a:r>
            <a:r>
              <a:rPr lang="ko-KR" altLang="en-US" sz="1000" dirty="0">
                <a:latin typeface="+mn-ea"/>
                <a:ea typeface="+mn-ea"/>
              </a:rPr>
              <a:t>전압 변환기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계측용 변류기</a:t>
            </a:r>
            <a:r>
              <a:rPr lang="en-US" altLang="ko-KR" sz="1000" dirty="0">
                <a:latin typeface="+mn-ea"/>
                <a:ea typeface="+mn-ea"/>
              </a:rPr>
              <a:t>·</a:t>
            </a:r>
            <a:r>
              <a:rPr lang="ko-KR" altLang="en-US" sz="1000" dirty="0">
                <a:latin typeface="+mn-ea"/>
                <a:ea typeface="+mn-ea"/>
              </a:rPr>
              <a:t>변압기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DSP</a:t>
            </a:r>
            <a:r>
              <a:rPr lang="en-US" sz="1000" dirty="0">
                <a:latin typeface="+mn-ea"/>
                <a:ea typeface="+mn-ea"/>
              </a:rPr>
              <a:t> ( Digital Signal Processor ) </a:t>
            </a:r>
            <a:r>
              <a:rPr lang="ko-KR" altLang="en-US" sz="1000" dirty="0">
                <a:latin typeface="+mn-ea"/>
                <a:ea typeface="+mn-ea"/>
              </a:rPr>
              <a:t>아날로그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디지털 데이터 기반 </a:t>
            </a:r>
            <a:r>
              <a:rPr lang="ko-KR" altLang="en-US" sz="1000" dirty="0" err="1">
                <a:latin typeface="+mn-ea"/>
                <a:ea typeface="+mn-ea"/>
              </a:rPr>
              <a:t>보호계전</a:t>
            </a:r>
            <a:r>
              <a:rPr lang="ko-KR" altLang="en-US" sz="1000" dirty="0">
                <a:latin typeface="+mn-ea"/>
                <a:ea typeface="+mn-ea"/>
              </a:rPr>
              <a:t> 신호 처리 프로세서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RS232</a:t>
            </a:r>
            <a:r>
              <a:rPr lang="en-US" sz="1000" dirty="0">
                <a:latin typeface="+mn-ea"/>
                <a:ea typeface="+mn-ea"/>
              </a:rPr>
              <a:t> ( Recommended Standard 232 ) </a:t>
            </a:r>
            <a:r>
              <a:rPr lang="ko-KR" altLang="en-US" sz="1000" dirty="0">
                <a:latin typeface="+mn-ea"/>
                <a:ea typeface="+mn-ea"/>
              </a:rPr>
              <a:t>직렬 통신 규격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en-US" sz="1000" dirty="0">
                <a:latin typeface="+mn-ea"/>
                <a:ea typeface="+mn-ea"/>
              </a:rPr>
              <a:t>Main MCU</a:t>
            </a:r>
            <a:r>
              <a:rPr lang="ko-KR" altLang="en-US" sz="1000" dirty="0">
                <a:latin typeface="+mn-ea"/>
                <a:ea typeface="+mn-ea"/>
              </a:rPr>
              <a:t>와 </a:t>
            </a:r>
            <a:r>
              <a:rPr lang="en-US" sz="1000" dirty="0">
                <a:latin typeface="+mn-ea"/>
                <a:ea typeface="+mn-ea"/>
              </a:rPr>
              <a:t>DI/DO </a:t>
            </a:r>
            <a:r>
              <a:rPr lang="ko-KR" altLang="en-US" sz="1000" dirty="0">
                <a:latin typeface="+mn-ea"/>
                <a:ea typeface="+mn-ea"/>
              </a:rPr>
              <a:t>인터페이스 등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AFE+CT/PT</a:t>
            </a:r>
            <a:r>
              <a:rPr lang="en-US" sz="1000" dirty="0">
                <a:latin typeface="+mn-ea"/>
                <a:ea typeface="+mn-ea"/>
              </a:rPr>
              <a:t> ( Analog Front End &amp; CT/PT ) </a:t>
            </a:r>
            <a:r>
              <a:rPr lang="ko-KR" altLang="en-US" sz="1000" dirty="0">
                <a:latin typeface="+mn-ea"/>
                <a:ea typeface="+mn-ea"/>
              </a:rPr>
              <a:t>계측용 아날로그 입력 번들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전류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전압 신호 획득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sz="1000" b="1" dirty="0">
                <a:latin typeface="+mn-ea"/>
                <a:ea typeface="+mn-ea"/>
              </a:rPr>
              <a:t>GIPAM</a:t>
            </a:r>
            <a:r>
              <a:rPr lang="en-US" sz="1000" dirty="0">
                <a:latin typeface="+mn-ea"/>
                <a:ea typeface="+mn-ea"/>
              </a:rPr>
              <a:t> ( General Intelligent Protection &amp; Monitoring ) </a:t>
            </a:r>
            <a:r>
              <a:rPr lang="ko-KR" altLang="en-US" sz="1000" dirty="0">
                <a:latin typeface="+mn-ea"/>
                <a:ea typeface="+mn-ea"/>
              </a:rPr>
              <a:t>전력설비의 보호 및 감시용 디지털 </a:t>
            </a:r>
            <a:r>
              <a:rPr lang="ko-KR" altLang="en-US" sz="1000" dirty="0" err="1">
                <a:latin typeface="+mn-ea"/>
                <a:ea typeface="+mn-ea"/>
              </a:rPr>
              <a:t>보호계전기</a:t>
            </a:r>
            <a:r>
              <a:rPr lang="ko-KR" altLang="en-US" sz="1000" dirty="0">
                <a:latin typeface="+mn-ea"/>
                <a:ea typeface="+mn-ea"/>
              </a:rPr>
              <a:t> 시리즈명</a:t>
            </a:r>
          </a:p>
          <a:p>
            <a:pPr>
              <a:buFont typeface="Arial" panose="020B0604020202020204" pitchFamily="34" charset="0"/>
              <a:buChar char="•"/>
            </a:pPr>
            <a:endParaRPr lang="ko-KR" altLang="en-US" sz="1000" dirty="0">
              <a:latin typeface="+mn-ea"/>
              <a:ea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4F8308-79AB-2C6C-B3A5-DA9ECDABA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713" y="957754"/>
            <a:ext cx="3597275" cy="1916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4D2958-AAD7-A47F-26D7-B5F826AE491E}"/>
              </a:ext>
            </a:extLst>
          </p:cNvPr>
          <p:cNvSpPr txBox="1"/>
          <p:nvPr/>
        </p:nvSpPr>
        <p:spPr>
          <a:xfrm>
            <a:off x="6843713" y="2874606"/>
            <a:ext cx="340287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  <a:ea typeface="+mn-ea"/>
              </a:rPr>
              <a:t>개발 환경</a:t>
            </a:r>
            <a:endParaRPr lang="en-US" altLang="ko-KR" sz="1400" b="1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주로 </a:t>
            </a:r>
            <a:r>
              <a:rPr lang="en-US" altLang="ko-KR" dirty="0">
                <a:latin typeface="+mn-ea"/>
                <a:ea typeface="+mn-ea"/>
              </a:rPr>
              <a:t>C++ 11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임베디드 플랫폼</a:t>
            </a:r>
            <a:r>
              <a:rPr lang="en-US" altLang="ko-KR" dirty="0">
                <a:latin typeface="+mn-ea"/>
                <a:ea typeface="+mn-ea"/>
              </a:rPr>
              <a:t>)</a:t>
            </a: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각 모듈당 개인 개발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로컬 개발 환경</a:t>
            </a:r>
            <a:r>
              <a:rPr lang="en-US" altLang="ko-KR" dirty="0">
                <a:latin typeface="+mn-ea"/>
                <a:ea typeface="+mn-ea"/>
              </a:rPr>
              <a:t>,</a:t>
            </a:r>
            <a:r>
              <a:rPr lang="ko-KR" altLang="en-US" dirty="0">
                <a:latin typeface="+mn-ea"/>
                <a:ea typeface="+mn-ea"/>
              </a:rPr>
              <a:t> 별도 툴 사용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  <a:ea typeface="+mn-ea"/>
              </a:rPr>
              <a:t>애로 사항</a:t>
            </a:r>
            <a:endParaRPr lang="en-US" altLang="ko-KR" sz="1400" b="1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개발자간 코드 품질 격차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개발자간 코드 스타일 상이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향후 멀티코어 플랫폼 도래 시 개발자간 협업 필요 예상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긴 제품 사이클로 인한 레거시 코드 </a:t>
            </a:r>
            <a:r>
              <a:rPr lang="ko-KR" altLang="en-US" sz="1200" dirty="0" err="1">
                <a:latin typeface="+mn-ea"/>
                <a:ea typeface="+mn-ea"/>
              </a:rPr>
              <a:t>리팩토링</a:t>
            </a:r>
            <a:r>
              <a:rPr lang="ko-KR" altLang="en-US" sz="1200" dirty="0">
                <a:latin typeface="+mn-ea"/>
                <a:ea typeface="+mn-ea"/>
              </a:rPr>
              <a:t> 부담 </a:t>
            </a:r>
            <a:endParaRPr lang="en-US" altLang="ko-KR" sz="1200" dirty="0">
              <a:latin typeface="+mn-ea"/>
              <a:ea typeface="+mn-ea"/>
            </a:endParaRPr>
          </a:p>
          <a:p>
            <a:pPr lvl="1"/>
            <a:endParaRPr lang="en-US" altLang="ko-KR" sz="12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+mn-ea"/>
                <a:ea typeface="+mn-ea"/>
              </a:rPr>
              <a:t>도입 요건 </a:t>
            </a:r>
            <a:endParaRPr lang="en-US" altLang="ko-KR" sz="1400" b="1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협업 플랫폼 구축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코딩 품질 상향 및 표준화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코딩 생산성</a:t>
            </a:r>
            <a:r>
              <a:rPr lang="en-US" altLang="ko-KR" dirty="0">
                <a:latin typeface="+mn-ea"/>
                <a:ea typeface="+mn-ea"/>
              </a:rPr>
              <a:t>+</a:t>
            </a:r>
            <a:r>
              <a:rPr lang="ko-KR" altLang="en-US" dirty="0">
                <a:latin typeface="+mn-ea"/>
                <a:ea typeface="+mn-ea"/>
              </a:rPr>
              <a:t>문서 반자동화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en-US" altLang="ko-KR" dirty="0">
                <a:latin typeface="+mn-ea"/>
                <a:ea typeface="+mn-ea"/>
              </a:rPr>
              <a:t>Copilot</a:t>
            </a:r>
            <a:r>
              <a:rPr lang="ko-KR" altLang="en-US" dirty="0">
                <a:latin typeface="+mn-ea"/>
                <a:ea typeface="+mn-ea"/>
              </a:rPr>
              <a:t>이 기존 학습하지 못한 임베디드 특화 코딩에 대한 제안 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문서 표준화 </a:t>
            </a:r>
            <a:endParaRPr lang="en-US" altLang="ko-KR" dirty="0">
              <a:latin typeface="+mn-ea"/>
              <a:ea typeface="+mn-ea"/>
            </a:endParaRPr>
          </a:p>
          <a:p>
            <a:pPr marL="742823" lvl="1" indent="-285750">
              <a:buFont typeface="Courier New" panose="02070309020205020404" pitchFamily="49" charset="0"/>
              <a:buChar char="o"/>
            </a:pPr>
            <a:r>
              <a:rPr lang="ko-KR" altLang="en-US" dirty="0">
                <a:latin typeface="+mn-ea"/>
                <a:ea typeface="+mn-ea"/>
              </a:rPr>
              <a:t>사내 규약 및 보안 준수 강제</a:t>
            </a:r>
          </a:p>
        </p:txBody>
      </p:sp>
    </p:spTree>
    <p:extLst>
      <p:ext uri="{BB962C8B-B14F-4D97-AF65-F5344CB8AC3E}">
        <p14:creationId xmlns:p14="http://schemas.microsoft.com/office/powerpoint/2010/main" val="137380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3714-68E3-5A1C-4E90-AC0AFCC6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32E978D-E535-2170-A69E-FB82531A96D7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+mn-ea"/>
                <a:ea typeface="+mn-ea"/>
              </a:rPr>
              <a:t>3.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PoC 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수행 전략과 제약</a:t>
            </a:r>
            <a:endParaRPr kumimoji="0" lang="ko-KR" altLang="en-US" sz="2800" b="1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75A66-847A-AA89-EFDB-9F3D12C2B473}"/>
              </a:ext>
            </a:extLst>
          </p:cNvPr>
          <p:cNvSpPr txBox="1"/>
          <p:nvPr/>
        </p:nvSpPr>
        <p:spPr>
          <a:xfrm>
            <a:off x="478973" y="1065287"/>
            <a:ext cx="91059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 err="1">
                <a:latin typeface="+mn-ea"/>
                <a:ea typeface="+mn-ea"/>
              </a:rPr>
              <a:t>유스케이스별</a:t>
            </a:r>
            <a:r>
              <a:rPr lang="ko-KR" altLang="en-US" sz="2000" b="1" dirty="0">
                <a:latin typeface="+mn-ea"/>
                <a:ea typeface="+mn-ea"/>
              </a:rPr>
              <a:t> 코드 제안</a:t>
            </a:r>
            <a:endParaRPr lang="en-US" altLang="ko-KR" sz="2000" b="1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전역 지침 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en-US" sz="1600" dirty="0">
                <a:latin typeface="+mn-ea"/>
                <a:ea typeface="+mn-ea"/>
              </a:rPr>
              <a:t>copilot-</a:t>
            </a:r>
            <a:r>
              <a:rPr lang="en-US" sz="1600" dirty="0" err="1">
                <a:latin typeface="+mn-ea"/>
                <a:ea typeface="+mn-ea"/>
              </a:rPr>
              <a:t>instructions.md</a:t>
            </a:r>
            <a:r>
              <a:rPr lang="en-US" sz="1600" dirty="0">
                <a:latin typeface="+mn-ea"/>
                <a:ea typeface="+mn-ea"/>
              </a:rPr>
              <a:t>) + </a:t>
            </a:r>
            <a:r>
              <a:rPr lang="ko-KR" altLang="en-US" sz="1600" dirty="0">
                <a:latin typeface="+mn-ea"/>
                <a:ea typeface="+mn-ea"/>
              </a:rPr>
              <a:t>경로별 지침 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en-US" sz="1600" dirty="0" err="1">
                <a:latin typeface="+mn-ea"/>
                <a:ea typeface="+mn-ea"/>
              </a:rPr>
              <a:t>instructions.md</a:t>
            </a:r>
            <a:r>
              <a:rPr lang="en-US" sz="1600" dirty="0">
                <a:latin typeface="+mn-ea"/>
                <a:ea typeface="+mn-ea"/>
              </a:rPr>
              <a:t>)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프롬프트 표준화와 코드 생산성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제약 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로컬 개발 환경에서 팀의 기존 코드를 문맥으로 제공하는 것 불가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Arial" panose="020B0604020202020204" pitchFamily="34" charset="0"/>
              <a:buChar char="•"/>
            </a:pPr>
            <a:r>
              <a:rPr lang="en-US" sz="1600" dirty="0">
                <a:latin typeface="+mn-ea"/>
                <a:ea typeface="+mn-ea"/>
              </a:rPr>
              <a:t>GitHub </a:t>
            </a:r>
            <a:r>
              <a:rPr lang="ko-KR" altLang="en-US" sz="1600" dirty="0">
                <a:latin typeface="+mn-ea"/>
                <a:ea typeface="+mn-ea"/>
              </a:rPr>
              <a:t>저장소 사용 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en-US" sz="1600" dirty="0">
                <a:latin typeface="+mn-ea"/>
                <a:ea typeface="+mn-ea"/>
              </a:rPr>
              <a:t>GitHub Space + MCP</a:t>
            </a:r>
            <a:r>
              <a:rPr lang="ko-KR" altLang="en-US" sz="1600" dirty="0" err="1">
                <a:latin typeface="+mn-ea"/>
                <a:ea typeface="+mn-ea"/>
              </a:rPr>
              <a:t>를</a:t>
            </a:r>
            <a:r>
              <a:rPr lang="ko-KR" altLang="en-US" sz="1600" dirty="0">
                <a:latin typeface="+mn-ea"/>
                <a:ea typeface="+mn-ea"/>
              </a:rPr>
              <a:t> 통해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코딩 컨벤션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코드 모범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리뷰 자동화 등 효과 기대</a:t>
            </a:r>
            <a:endParaRPr lang="en-US" altLang="ko-KR" sz="1600" dirty="0">
              <a:latin typeface="+mn-ea"/>
              <a:ea typeface="+mn-ea"/>
            </a:endParaRPr>
          </a:p>
          <a:p>
            <a:pPr lvl="1"/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627D0-4E7B-F474-0CB6-8F5DFF5EBDEB}"/>
              </a:ext>
            </a:extLst>
          </p:cNvPr>
          <p:cNvSpPr txBox="1"/>
          <p:nvPr/>
        </p:nvSpPr>
        <p:spPr>
          <a:xfrm>
            <a:off x="478973" y="3112001"/>
            <a:ext cx="9105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ko-KR" altLang="en-US" sz="2000" b="1" dirty="0">
                <a:latin typeface="+mn-ea"/>
                <a:ea typeface="+mn-ea"/>
              </a:rPr>
              <a:t>레거시 코드 </a:t>
            </a:r>
            <a:r>
              <a:rPr lang="ko-KR" altLang="en-US" sz="2000" b="1" dirty="0" err="1">
                <a:latin typeface="+mn-ea"/>
                <a:ea typeface="+mn-ea"/>
              </a:rPr>
              <a:t>리팩토링</a:t>
            </a:r>
            <a:endParaRPr lang="en-US" altLang="ko-KR" sz="2000" b="1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가독성 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자동 주석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변수 네이밍 표준화 등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재사용성 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공통 로직 추출 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이후 </a:t>
            </a:r>
            <a:r>
              <a:rPr lang="en-US" sz="1600" dirty="0" err="1">
                <a:latin typeface="+mn-ea"/>
                <a:ea typeface="+mn-ea"/>
              </a:rPr>
              <a:t>instructions.md</a:t>
            </a:r>
            <a:r>
              <a:rPr lang="ko-KR" altLang="en-US" sz="1600" dirty="0">
                <a:latin typeface="+mn-ea"/>
                <a:ea typeface="+mn-ea"/>
              </a:rPr>
              <a:t>로 반영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기존 혹은 잠재적 문제점 개선 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정적 경고 분석으로 수정 코드 제안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단위 테스트 코드 작성 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F78BBC-76D4-A6DC-C5EA-A1F592DC653E}"/>
              </a:ext>
            </a:extLst>
          </p:cNvPr>
          <p:cNvSpPr txBox="1"/>
          <p:nvPr/>
        </p:nvSpPr>
        <p:spPr>
          <a:xfrm>
            <a:off x="478973" y="4712439"/>
            <a:ext cx="91059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000" b="1" dirty="0">
                <a:latin typeface="+mn-ea"/>
                <a:ea typeface="+mn-ea"/>
              </a:rPr>
              <a:t>신규 플랫폼 빌드 크로스 컴파일 </a:t>
            </a:r>
            <a:r>
              <a:rPr lang="en-US" altLang="ko-KR" sz="2000" b="1" dirty="0">
                <a:latin typeface="+mn-ea"/>
                <a:ea typeface="+mn-ea"/>
              </a:rPr>
              <a:t>CI/CD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en-US" altLang="ko-KR" sz="1600" dirty="0"/>
              <a:t>PR </a:t>
            </a:r>
            <a:r>
              <a:rPr lang="ko-KR" altLang="en-US" sz="1600" dirty="0"/>
              <a:t>게이트웨이</a:t>
            </a:r>
            <a:r>
              <a:rPr lang="en-US" altLang="ko-KR" sz="1600" dirty="0"/>
              <a:t>,</a:t>
            </a:r>
            <a:r>
              <a:rPr lang="ko-KR" altLang="en-US" sz="1600" dirty="0"/>
              <a:t> 단위 테스트 자동화</a:t>
            </a:r>
            <a:r>
              <a:rPr lang="en-US" altLang="ko-KR" sz="1600" dirty="0"/>
              <a:t>,</a:t>
            </a:r>
            <a:r>
              <a:rPr lang="ko-KR" altLang="en-US" sz="1600" dirty="0"/>
              <a:t> 크로스 컴파일 자동화 등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/>
              <a:t>금번 </a:t>
            </a:r>
            <a:r>
              <a:rPr lang="en-US" altLang="ko-KR" sz="1600" dirty="0"/>
              <a:t>PoC</a:t>
            </a:r>
            <a:r>
              <a:rPr lang="ko-KR" altLang="en-US" sz="1600" dirty="0"/>
              <a:t>는 로컬 환경 위주로 진행했으므로 수행 어려웠음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880F54-FAEB-647C-04C8-D83EFA56310E}"/>
              </a:ext>
            </a:extLst>
          </p:cNvPr>
          <p:cNvSpPr txBox="1"/>
          <p:nvPr/>
        </p:nvSpPr>
        <p:spPr>
          <a:xfrm>
            <a:off x="537707" y="6412776"/>
            <a:ext cx="90471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R" sz="1400" dirty="0">
                <a:latin typeface="+mn-ea"/>
                <a:ea typeface="+mn-ea"/>
              </a:rPr>
              <a:t>📌 </a:t>
            </a:r>
            <a:r>
              <a:rPr lang="en-US" sz="1400" dirty="0">
                <a:latin typeface="+mn-ea"/>
                <a:ea typeface="+mn-ea"/>
              </a:rPr>
              <a:t>GitHub </a:t>
            </a:r>
            <a:r>
              <a:rPr lang="ko-KR" altLang="en-US" sz="1400" dirty="0">
                <a:latin typeface="+mn-ea"/>
                <a:ea typeface="+mn-ea"/>
              </a:rPr>
              <a:t>저장소에서만 가능한 기능은 일단 제외하고 로컬 개발자의 효율적 개발 생산성과 </a:t>
            </a:r>
            <a:r>
              <a:rPr lang="ko-KR" altLang="en-US" sz="1400" dirty="0" err="1">
                <a:latin typeface="+mn-ea"/>
                <a:ea typeface="+mn-ea"/>
              </a:rPr>
              <a:t>리팩토링에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ko-KR" altLang="en-US" sz="1400" dirty="0" err="1">
                <a:latin typeface="+mn-ea"/>
                <a:ea typeface="+mn-ea"/>
              </a:rPr>
              <a:t>촛점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328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309F-B005-2365-3C48-D4675A65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40072C2-3836-BDA5-C614-D31591E536A6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+mn-ea"/>
                <a:ea typeface="+mn-ea"/>
              </a:rPr>
              <a:t>4.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PoC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+mn-ea"/>
                <a:ea typeface="+mn-ea"/>
              </a:rPr>
              <a:t> 개별 과제 상세</a:t>
            </a:r>
            <a:endParaRPr kumimoji="0" lang="ko-KR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84EE23-42CC-8B0E-A7F8-184618DB7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98002"/>
              </p:ext>
            </p:extLst>
          </p:nvPr>
        </p:nvGraphicFramePr>
        <p:xfrm>
          <a:off x="148839" y="1175659"/>
          <a:ext cx="10181026" cy="5148205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87975">
                  <a:extLst>
                    <a:ext uri="{9D8B030D-6E8A-4147-A177-3AD203B41FA5}">
                      <a16:colId xmlns:a16="http://schemas.microsoft.com/office/drawing/2014/main" val="1154337318"/>
                    </a:ext>
                  </a:extLst>
                </a:gridCol>
                <a:gridCol w="1077686">
                  <a:extLst>
                    <a:ext uri="{9D8B030D-6E8A-4147-A177-3AD203B41FA5}">
                      <a16:colId xmlns:a16="http://schemas.microsoft.com/office/drawing/2014/main" val="3163485511"/>
                    </a:ext>
                  </a:extLst>
                </a:gridCol>
                <a:gridCol w="2237014">
                  <a:extLst>
                    <a:ext uri="{9D8B030D-6E8A-4147-A177-3AD203B41FA5}">
                      <a16:colId xmlns:a16="http://schemas.microsoft.com/office/drawing/2014/main" val="2289046656"/>
                    </a:ext>
                  </a:extLst>
                </a:gridCol>
                <a:gridCol w="2906486">
                  <a:extLst>
                    <a:ext uri="{9D8B030D-6E8A-4147-A177-3AD203B41FA5}">
                      <a16:colId xmlns:a16="http://schemas.microsoft.com/office/drawing/2014/main" val="965471193"/>
                    </a:ext>
                  </a:extLst>
                </a:gridCol>
                <a:gridCol w="3471865">
                  <a:extLst>
                    <a:ext uri="{9D8B030D-6E8A-4147-A177-3AD203B41FA5}">
                      <a16:colId xmlns:a16="http://schemas.microsoft.com/office/drawing/2014/main" val="1944924968"/>
                    </a:ext>
                  </a:extLst>
                </a:gridCol>
              </a:tblGrid>
              <a:tr h="444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#</a:t>
                      </a:r>
                      <a:endParaRPr lang="en-US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Task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기대 결과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236378"/>
                  </a:ext>
                </a:extLst>
              </a:tr>
              <a:tr h="839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장성진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DIDO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보드에 적용된 레지스터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자동셋팅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342900" indent="-342900">
                        <a:buAutoNum type="arabicParenR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DIDO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프로젝트 소스코드의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리팩토링</a:t>
                      </a:r>
                      <a:endParaRPr lang="ko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DIDO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개수에 따른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레지스트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셋팅 코드의 생성 결과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최적화된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DIDO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프로젝트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이전 세션에서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손건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이사가 공유한 샘플을 기반으로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CPU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레지스트리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갯수에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따른 최적 코드 생성 여부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2329292467"/>
                  </a:ext>
                </a:extLst>
              </a:tr>
              <a:tr h="839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송명훈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HMI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페이저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소스코드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리팩토링</a:t>
                      </a:r>
                      <a:endParaRPr lang="ko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HMI 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페이저도 드로잉 최적화 코드 생성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인풋 변수가 현재 하드코딩된 상태</a:t>
                      </a:r>
                      <a:r>
                        <a:rPr lang="en-US" altLang="ko-KR" sz="1400">
                          <a:effectLst/>
                          <a:latin typeface="+mn-ea"/>
                          <a:ea typeface="+mn-ea"/>
                        </a:rPr>
                        <a:t>; 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이를 유연하게 변경하여도 성능 및 기능 변화 없도록 리팩토링할 것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1234837223"/>
                  </a:ext>
                </a:extLst>
              </a:tr>
              <a:tr h="1068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이민제</a:t>
                      </a:r>
                      <a:endParaRPr lang="ko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DSP 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실시간 계측 정보 분석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커스텀 프로토콜 변경에 따른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DSP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전송 패킷 분석 프로그램의 코드 변경 후 정상 동작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UDP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기반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Custom Protocol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패킷 분석 프로그램을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Protocol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멤버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구조체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변경 시 성능 및 기능 변화 없이 코드 반영할 것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430860346"/>
                  </a:ext>
                </a:extLst>
              </a:tr>
              <a:tr h="954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최창영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캡슐화된 계전 알고리즘 생성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캡슐화된 계전 알고리즘 코드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기존 </a:t>
                      </a: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monolothic 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전력 계통 사고 감지 알고리즘을 공통 모듈화하면서도 성능 유지 및 재사용성 증가 </a:t>
                      </a:r>
                      <a:r>
                        <a:rPr lang="en-US" altLang="ko-KR" sz="14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리팩토링</a:t>
                      </a:r>
                      <a:r>
                        <a:rPr lang="en-US" altLang="ko-KR" sz="14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3534209287"/>
                  </a:ext>
                </a:extLst>
              </a:tr>
              <a:tr h="954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권준수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제품의 </a:t>
                      </a: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400">
                          <a:effectLst/>
                          <a:latin typeface="+mn-ea"/>
                          <a:ea typeface="+mn-ea"/>
                        </a:rPr>
                        <a:t>업데이트 툴 개선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기존 코드를 확인할 수 없는 상태에서 윈도우 애플리케이션의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UI +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기능 명세만으로 신규 애플리케이션 자동 생성 테스트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메인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통신 모듈의 업데이트를 수행하는 레거시 윈도우 애플리케이션의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핵심 기능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만을 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PoC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내 구현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1821225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79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8BD1-95B1-86A4-4613-3B60A932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77E3C3B-3AB5-D689-2F3E-676CAE42EF13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PoC 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주요 일정 </a:t>
            </a:r>
            <a:endParaRPr kumimoji="0" lang="ko-KR" altLang="en-US" sz="28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3" name="표 171">
            <a:extLst>
              <a:ext uri="{FF2B5EF4-FFF2-40B4-BE49-F238E27FC236}">
                <a16:creationId xmlns:a16="http://schemas.microsoft.com/office/drawing/2014/main" id="{8A73E4F2-89CC-DA3F-8ED3-EF97FBFD8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10948"/>
              </p:ext>
            </p:extLst>
          </p:nvPr>
        </p:nvGraphicFramePr>
        <p:xfrm>
          <a:off x="120265" y="1718021"/>
          <a:ext cx="9856492" cy="4957099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693181">
                  <a:extLst>
                    <a:ext uri="{9D8B030D-6E8A-4147-A177-3AD203B41FA5}">
                      <a16:colId xmlns:a16="http://schemas.microsoft.com/office/drawing/2014/main" val="2508484565"/>
                    </a:ext>
                  </a:extLst>
                </a:gridCol>
                <a:gridCol w="1676911">
                  <a:extLst>
                    <a:ext uri="{9D8B030D-6E8A-4147-A177-3AD203B41FA5}">
                      <a16:colId xmlns:a16="http://schemas.microsoft.com/office/drawing/2014/main" val="1220831315"/>
                    </a:ext>
                  </a:extLst>
                </a:gridCol>
                <a:gridCol w="1551214">
                  <a:extLst>
                    <a:ext uri="{9D8B030D-6E8A-4147-A177-3AD203B41FA5}">
                      <a16:colId xmlns:a16="http://schemas.microsoft.com/office/drawing/2014/main" val="3967187200"/>
                    </a:ext>
                  </a:extLst>
                </a:gridCol>
                <a:gridCol w="1322615">
                  <a:extLst>
                    <a:ext uri="{9D8B030D-6E8A-4147-A177-3AD203B41FA5}">
                      <a16:colId xmlns:a16="http://schemas.microsoft.com/office/drawing/2014/main" val="86761241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266209455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2947714682"/>
                    </a:ext>
                  </a:extLst>
                </a:gridCol>
              </a:tblGrid>
              <a:tr h="368117"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+mn-cs"/>
                        </a:rPr>
                        <a:t>마일스톤</a:t>
                      </a: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사전작업</a:t>
                      </a: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‘25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814688"/>
                  </a:ext>
                </a:extLst>
              </a:tr>
              <a:tr h="2387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1pPr>
                      <a:lvl2pPr marL="45714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2pPr>
                      <a:lvl3pPr marL="91427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3pPr>
                      <a:lvl4pPr marL="137141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4pPr>
                      <a:lvl5pPr marL="1828555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5pPr>
                      <a:lvl6pPr marL="2285694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6pPr>
                      <a:lvl7pPr marL="2742832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7pPr>
                      <a:lvl8pPr marL="3199971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8pPr>
                      <a:lvl9pPr marL="365711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W1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1pPr>
                      <a:lvl2pPr marL="45714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2pPr>
                      <a:lvl3pPr marL="91427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3pPr>
                      <a:lvl4pPr marL="137141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4pPr>
                      <a:lvl5pPr marL="1828555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5pPr>
                      <a:lvl6pPr marL="2285694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6pPr>
                      <a:lvl7pPr marL="2742832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7pPr>
                      <a:lvl8pPr marL="3199971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8pPr>
                      <a:lvl9pPr marL="365711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W2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1pPr>
                      <a:lvl2pPr marL="45714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2pPr>
                      <a:lvl3pPr marL="91427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3pPr>
                      <a:lvl4pPr marL="137141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4pPr>
                      <a:lvl5pPr marL="1828555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5pPr>
                      <a:lvl6pPr marL="2285694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6pPr>
                      <a:lvl7pPr marL="2742832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7pPr>
                      <a:lvl8pPr marL="3199971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8pPr>
                      <a:lvl9pPr marL="365711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W3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1pPr>
                      <a:lvl2pPr marL="45714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2pPr>
                      <a:lvl3pPr marL="91427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3pPr>
                      <a:lvl4pPr marL="1371417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4pPr>
                      <a:lvl5pPr marL="1828555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5pPr>
                      <a:lvl6pPr marL="2285694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6pPr>
                      <a:lvl7pPr marL="2742832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7pPr>
                      <a:lvl8pPr marL="3199971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8pPr>
                      <a:lvl9pPr marL="3657110" algn="l" defTabSz="914277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W4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37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2"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교육 및 도입 요건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173"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2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GitHub Copilot 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트라이얼 환경 구성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2156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04313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5646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08625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60781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12938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165094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17250" algn="l" defTabSz="904313" rtl="0" eaLnBrk="1" latinLnBrk="1" hangingPunct="1">
                        <a:defRPr sz="178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과제 선정 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및 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요건 상세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837256"/>
                  </a:ext>
                </a:extLst>
              </a:tr>
              <a:tr h="6638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개별 과제 수행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9510"/>
                  </a:ext>
                </a:extLst>
              </a:tr>
              <a:tr h="420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PoC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종료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rgbClr val="3C3C3C">
                          <a:lumMod val="40000"/>
                          <a:lumOff val="60000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97953"/>
                  </a:ext>
                </a:extLst>
              </a:tr>
            </a:tbl>
          </a:graphicData>
        </a:graphic>
      </p:graphicFrame>
      <p:sp>
        <p:nvSpPr>
          <p:cNvPr id="5" name="Flowchart: Merge 142">
            <a:extLst>
              <a:ext uri="{FF2B5EF4-FFF2-40B4-BE49-F238E27FC236}">
                <a16:creationId xmlns:a16="http://schemas.microsoft.com/office/drawing/2014/main" id="{BF0A5D24-A68A-AFB5-20C1-825C7EC58C5B}"/>
              </a:ext>
            </a:extLst>
          </p:cNvPr>
          <p:cNvSpPr/>
          <p:nvPr/>
        </p:nvSpPr>
        <p:spPr bwMode="auto">
          <a:xfrm flipV="1">
            <a:off x="9783188" y="2574504"/>
            <a:ext cx="160059" cy="144020"/>
          </a:xfrm>
          <a:prstGeom prst="flowChartMerg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CB317-93F2-F498-321D-2CD862B61E94}"/>
              </a:ext>
            </a:extLst>
          </p:cNvPr>
          <p:cNvSpPr txBox="1"/>
          <p:nvPr/>
        </p:nvSpPr>
        <p:spPr>
          <a:xfrm>
            <a:off x="9351543" y="2718524"/>
            <a:ext cx="625214" cy="19922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  <a:r>
              <a:rPr kumimoji="1" lang="ko-KR" altLang="en-US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미팅</a:t>
            </a:r>
            <a:endParaRPr kumimoji="1" lang="en-US" altLang="ko-KR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(11/13)</a:t>
            </a:r>
            <a:endParaRPr kumimoji="1" lang="ko-KR" altLang="en-US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Flowchart: Merge 142">
            <a:extLst>
              <a:ext uri="{FF2B5EF4-FFF2-40B4-BE49-F238E27FC236}">
                <a16:creationId xmlns:a16="http://schemas.microsoft.com/office/drawing/2014/main" id="{A3CAB739-D091-2B1D-3FB7-226C838EAA9B}"/>
              </a:ext>
            </a:extLst>
          </p:cNvPr>
          <p:cNvSpPr/>
          <p:nvPr/>
        </p:nvSpPr>
        <p:spPr bwMode="auto">
          <a:xfrm flipV="1">
            <a:off x="4494156" y="2609322"/>
            <a:ext cx="160059" cy="144020"/>
          </a:xfrm>
          <a:prstGeom prst="flowChartMerg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485C5-6FB4-00F0-3A80-A3A111094246}"/>
              </a:ext>
            </a:extLst>
          </p:cNvPr>
          <p:cNvSpPr txBox="1"/>
          <p:nvPr/>
        </p:nvSpPr>
        <p:spPr>
          <a:xfrm>
            <a:off x="4906450" y="2772736"/>
            <a:ext cx="625214" cy="19922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킥오프 </a:t>
            </a:r>
            <a: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일 트라이얼</a:t>
            </a:r>
            <a:r>
              <a:rPr lang="en-US" altLang="ko-KR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en-US" altLang="ko-KR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(10/13)</a:t>
            </a:r>
            <a:endParaRPr kumimoji="1" lang="ko-KR" altLang="en-US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Pentagon 52">
            <a:extLst>
              <a:ext uri="{FF2B5EF4-FFF2-40B4-BE49-F238E27FC236}">
                <a16:creationId xmlns:a16="http://schemas.microsoft.com/office/drawing/2014/main" id="{086EEAB3-DD7E-2BBD-9CFF-710C11434A89}"/>
              </a:ext>
            </a:extLst>
          </p:cNvPr>
          <p:cNvSpPr/>
          <p:nvPr/>
        </p:nvSpPr>
        <p:spPr bwMode="gray">
          <a:xfrm>
            <a:off x="4536930" y="2367869"/>
            <a:ext cx="1476596" cy="199229"/>
          </a:xfrm>
          <a:prstGeom prst="homePlate">
            <a:avLst>
              <a:gd name="adj" fmla="val 27852"/>
            </a:avLst>
          </a:prstGeom>
          <a:solidFill>
            <a:srgbClr val="333F50"/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 latinLnBrk="0"/>
            <a:r>
              <a:rPr kumimoji="1" lang="en-US" altLang="ko-KR" sz="1200" b="1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PoC </a:t>
            </a:r>
            <a:r>
              <a:rPr kumimoji="1" lang="ko-KR" altLang="en-US" sz="1200" b="1" ker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환경 구성</a:t>
            </a:r>
          </a:p>
        </p:txBody>
      </p:sp>
      <p:sp>
        <p:nvSpPr>
          <p:cNvPr id="10" name="Pentagon 52">
            <a:extLst>
              <a:ext uri="{FF2B5EF4-FFF2-40B4-BE49-F238E27FC236}">
                <a16:creationId xmlns:a16="http://schemas.microsoft.com/office/drawing/2014/main" id="{85EBEB1A-2259-2EA9-F8C9-682AD3D90CBE}"/>
              </a:ext>
            </a:extLst>
          </p:cNvPr>
          <p:cNvSpPr/>
          <p:nvPr/>
        </p:nvSpPr>
        <p:spPr bwMode="gray">
          <a:xfrm>
            <a:off x="6067316" y="2375598"/>
            <a:ext cx="1269399" cy="199229"/>
          </a:xfrm>
          <a:prstGeom prst="homePlate">
            <a:avLst>
              <a:gd name="adj" fmla="val 27852"/>
            </a:avLst>
          </a:prstGeom>
          <a:solidFill>
            <a:srgbClr val="333F50"/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 latinLnBrk="0"/>
            <a:r>
              <a:rPr kumimoji="1" lang="ko-KR" altLang="en-US" sz="12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과제 상세화</a:t>
            </a:r>
          </a:p>
        </p:txBody>
      </p:sp>
      <p:sp>
        <p:nvSpPr>
          <p:cNvPr id="11" name="Pentagon 52">
            <a:extLst>
              <a:ext uri="{FF2B5EF4-FFF2-40B4-BE49-F238E27FC236}">
                <a16:creationId xmlns:a16="http://schemas.microsoft.com/office/drawing/2014/main" id="{ED5F550D-F075-6769-F98B-193A2C3CD5C6}"/>
              </a:ext>
            </a:extLst>
          </p:cNvPr>
          <p:cNvSpPr/>
          <p:nvPr/>
        </p:nvSpPr>
        <p:spPr bwMode="gray">
          <a:xfrm>
            <a:off x="7433535" y="2367868"/>
            <a:ext cx="2509712" cy="199229"/>
          </a:xfrm>
          <a:prstGeom prst="homePlate">
            <a:avLst>
              <a:gd name="adj" fmla="val 27852"/>
            </a:avLst>
          </a:prstGeom>
          <a:solidFill>
            <a:srgbClr val="333F50"/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 latinLnBrk="0"/>
            <a:r>
              <a:rPr kumimoji="1" lang="ko-KR" altLang="en-US" sz="12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검증 테스트</a:t>
            </a:r>
          </a:p>
        </p:txBody>
      </p:sp>
      <p:sp>
        <p:nvSpPr>
          <p:cNvPr id="13" name="Pentagon 52">
            <a:extLst>
              <a:ext uri="{FF2B5EF4-FFF2-40B4-BE49-F238E27FC236}">
                <a16:creationId xmlns:a16="http://schemas.microsoft.com/office/drawing/2014/main" id="{E89BC425-3F25-2625-D796-9F0DD23D7282}"/>
              </a:ext>
            </a:extLst>
          </p:cNvPr>
          <p:cNvSpPr/>
          <p:nvPr/>
        </p:nvSpPr>
        <p:spPr bwMode="gray">
          <a:xfrm>
            <a:off x="2897076" y="2367868"/>
            <a:ext cx="1543033" cy="206959"/>
          </a:xfrm>
          <a:prstGeom prst="homePlate">
            <a:avLst>
              <a:gd name="adj" fmla="val 27852"/>
            </a:avLst>
          </a:prstGeom>
          <a:solidFill>
            <a:srgbClr val="333F50"/>
          </a:solidFill>
          <a:ln w="9525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 latinLnBrk="0"/>
            <a:r>
              <a:rPr kumimoji="1" lang="ko-KR" altLang="en-US" sz="1200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개발자 교육</a:t>
            </a:r>
          </a:p>
        </p:txBody>
      </p:sp>
      <p:sp>
        <p:nvSpPr>
          <p:cNvPr id="14" name="화살표: 오각형 17">
            <a:extLst>
              <a:ext uri="{FF2B5EF4-FFF2-40B4-BE49-F238E27FC236}">
                <a16:creationId xmlns:a16="http://schemas.microsoft.com/office/drawing/2014/main" id="{D96F1EDE-BD56-D024-AF35-82FC7C3E43C0}"/>
              </a:ext>
            </a:extLst>
          </p:cNvPr>
          <p:cNvSpPr/>
          <p:nvPr/>
        </p:nvSpPr>
        <p:spPr bwMode="auto">
          <a:xfrm>
            <a:off x="2840020" y="3348998"/>
            <a:ext cx="1600089" cy="258653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GitHub </a:t>
            </a:r>
            <a:r>
              <a:rPr lang="ko-KR" altLang="en-US" sz="800" dirty="0">
                <a:latin typeface="+mn-ea"/>
                <a:ea typeface="+mn-ea"/>
              </a:rPr>
              <a:t>개발자 교육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화살표: 오각형 17">
            <a:extLst>
              <a:ext uri="{FF2B5EF4-FFF2-40B4-BE49-F238E27FC236}">
                <a16:creationId xmlns:a16="http://schemas.microsoft.com/office/drawing/2014/main" id="{565C8658-5276-4268-ED36-5FC5BEFE7C05}"/>
              </a:ext>
            </a:extLst>
          </p:cNvPr>
          <p:cNvSpPr/>
          <p:nvPr/>
        </p:nvSpPr>
        <p:spPr bwMode="auto">
          <a:xfrm>
            <a:off x="2840020" y="3683427"/>
            <a:ext cx="1600089" cy="258653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  <a:ea typeface="+mn-ea"/>
              </a:rPr>
              <a:t>Digital HW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ea typeface="+mn-ea"/>
              </a:rPr>
              <a:t>팀 개발 환경 및 요건</a:t>
            </a:r>
          </a:p>
        </p:txBody>
      </p:sp>
      <p:sp>
        <p:nvSpPr>
          <p:cNvPr id="16" name="Flowchart: Merge 142">
            <a:extLst>
              <a:ext uri="{FF2B5EF4-FFF2-40B4-BE49-F238E27FC236}">
                <a16:creationId xmlns:a16="http://schemas.microsoft.com/office/drawing/2014/main" id="{89927D84-3BBA-CCE2-DD25-09D0359E6BCA}"/>
              </a:ext>
            </a:extLst>
          </p:cNvPr>
          <p:cNvSpPr/>
          <p:nvPr/>
        </p:nvSpPr>
        <p:spPr bwMode="auto">
          <a:xfrm flipV="1">
            <a:off x="2897076" y="2613364"/>
            <a:ext cx="160059" cy="144020"/>
          </a:xfrm>
          <a:prstGeom prst="flowChartMerg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E6EB4-C82D-A4DA-38B7-3FE4623D6794}"/>
              </a:ext>
            </a:extLst>
          </p:cNvPr>
          <p:cNvSpPr txBox="1"/>
          <p:nvPr/>
        </p:nvSpPr>
        <p:spPr>
          <a:xfrm>
            <a:off x="2828611" y="2754347"/>
            <a:ext cx="947862" cy="19922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GHCP</a:t>
            </a:r>
            <a:r>
              <a:rPr lang="ko-KR" altLang="en-US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워크샵</a:t>
            </a:r>
            <a:b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(7/17)</a:t>
            </a:r>
            <a:endParaRPr kumimoji="1" lang="ko-KR" altLang="en-US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Flowchart: Merge 142">
            <a:extLst>
              <a:ext uri="{FF2B5EF4-FFF2-40B4-BE49-F238E27FC236}">
                <a16:creationId xmlns:a16="http://schemas.microsoft.com/office/drawing/2014/main" id="{574FCACF-484D-5AF9-BD31-863E36C8122E}"/>
              </a:ext>
            </a:extLst>
          </p:cNvPr>
          <p:cNvSpPr/>
          <p:nvPr/>
        </p:nvSpPr>
        <p:spPr bwMode="auto">
          <a:xfrm flipV="1">
            <a:off x="6599974" y="2629641"/>
            <a:ext cx="160059" cy="144020"/>
          </a:xfrm>
          <a:prstGeom prst="flowChartMerg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7CCBA-05FB-7CCD-2453-771BB851B3AE}"/>
              </a:ext>
            </a:extLst>
          </p:cNvPr>
          <p:cNvSpPr txBox="1"/>
          <p:nvPr/>
        </p:nvSpPr>
        <p:spPr>
          <a:xfrm>
            <a:off x="6096799" y="2738083"/>
            <a:ext cx="1194645" cy="19922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개발자 </a:t>
            </a:r>
            <a:r>
              <a:rPr kumimoji="1" lang="ko-KR" altLang="en-US" sz="1100" b="1" dirty="0" err="1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온보딩</a:t>
            </a:r>
            <a:r>
              <a:rPr kumimoji="1" lang="ko-KR" altLang="en-US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교육</a:t>
            </a:r>
            <a:endParaRPr kumimoji="1" lang="en-US" altLang="ko-KR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b="1" dirty="0">
                <a:solidFill>
                  <a:srgbClr val="000000"/>
                </a:solidFill>
                <a:effectLst>
                  <a:glow rad="127000">
                    <a:srgbClr val="FFFFFF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(10/24)</a:t>
            </a:r>
            <a:endParaRPr kumimoji="1" lang="ko-KR" altLang="en-US" sz="1100" b="1" dirty="0">
              <a:solidFill>
                <a:srgbClr val="000000"/>
              </a:solidFill>
              <a:effectLst>
                <a:glow rad="127000">
                  <a:srgbClr val="FFFFFF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오각형 17">
            <a:extLst>
              <a:ext uri="{FF2B5EF4-FFF2-40B4-BE49-F238E27FC236}">
                <a16:creationId xmlns:a16="http://schemas.microsoft.com/office/drawing/2014/main" id="{351E1592-825B-74F9-D187-DF364DB2CC8B}"/>
              </a:ext>
            </a:extLst>
          </p:cNvPr>
          <p:cNvSpPr/>
          <p:nvPr/>
        </p:nvSpPr>
        <p:spPr bwMode="auto">
          <a:xfrm>
            <a:off x="4520726" y="4073778"/>
            <a:ext cx="1476596" cy="244922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관리자 교육 및 환경 구성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화살표: 오각형 17">
            <a:extLst>
              <a:ext uri="{FF2B5EF4-FFF2-40B4-BE49-F238E27FC236}">
                <a16:creationId xmlns:a16="http://schemas.microsoft.com/office/drawing/2014/main" id="{CCEBB3B8-5A25-E7E9-655E-52500203CA32}"/>
              </a:ext>
            </a:extLst>
          </p:cNvPr>
          <p:cNvSpPr/>
          <p:nvPr/>
        </p:nvSpPr>
        <p:spPr bwMode="auto">
          <a:xfrm>
            <a:off x="5459510" y="4538117"/>
            <a:ext cx="1476596" cy="244922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개별 과제 선정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화살표: 오각형 17">
            <a:extLst>
              <a:ext uri="{FF2B5EF4-FFF2-40B4-BE49-F238E27FC236}">
                <a16:creationId xmlns:a16="http://schemas.microsoft.com/office/drawing/2014/main" id="{34D4D91F-EF4A-2AB0-3C62-59D6AB18DBF5}"/>
              </a:ext>
            </a:extLst>
          </p:cNvPr>
          <p:cNvSpPr/>
          <p:nvPr/>
        </p:nvSpPr>
        <p:spPr bwMode="auto">
          <a:xfrm>
            <a:off x="6013526" y="5181747"/>
            <a:ext cx="1826421" cy="244922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과제 요건 상세화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3" name="화살표: 오각형 17">
            <a:extLst>
              <a:ext uri="{FF2B5EF4-FFF2-40B4-BE49-F238E27FC236}">
                <a16:creationId xmlns:a16="http://schemas.microsoft.com/office/drawing/2014/main" id="{2190E4EE-3CF1-4C50-58B4-F57C509EB69A}"/>
              </a:ext>
            </a:extLst>
          </p:cNvPr>
          <p:cNvSpPr/>
          <p:nvPr/>
        </p:nvSpPr>
        <p:spPr bwMode="auto">
          <a:xfrm>
            <a:off x="6570548" y="4837655"/>
            <a:ext cx="766168" cy="244922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개발자 </a:t>
            </a:r>
            <a:r>
              <a:rPr lang="ko-KR" altLang="en-US" sz="800" dirty="0" err="1">
                <a:latin typeface="+mn-ea"/>
                <a:ea typeface="+mn-ea"/>
              </a:rPr>
              <a:t>온보딩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화살표: 오각형 17">
            <a:extLst>
              <a:ext uri="{FF2B5EF4-FFF2-40B4-BE49-F238E27FC236}">
                <a16:creationId xmlns:a16="http://schemas.microsoft.com/office/drawing/2014/main" id="{3F18E81E-A464-D8CC-8A50-D8B5BD24DD9C}"/>
              </a:ext>
            </a:extLst>
          </p:cNvPr>
          <p:cNvSpPr/>
          <p:nvPr/>
        </p:nvSpPr>
        <p:spPr bwMode="auto">
          <a:xfrm>
            <a:off x="6870251" y="5615069"/>
            <a:ext cx="1269399" cy="232038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테스트 시나리오 작성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화살표: 오각형 17">
            <a:extLst>
              <a:ext uri="{FF2B5EF4-FFF2-40B4-BE49-F238E27FC236}">
                <a16:creationId xmlns:a16="http://schemas.microsoft.com/office/drawing/2014/main" id="{43EF0180-E2AE-C6D3-DE97-09B4F16A6290}"/>
              </a:ext>
            </a:extLst>
          </p:cNvPr>
          <p:cNvSpPr/>
          <p:nvPr/>
        </p:nvSpPr>
        <p:spPr bwMode="auto">
          <a:xfrm>
            <a:off x="6870250" y="5947911"/>
            <a:ext cx="2912938" cy="232038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PoC </a:t>
            </a:r>
            <a:r>
              <a:rPr lang="ko-KR" altLang="en-US" sz="800" dirty="0">
                <a:latin typeface="+mn-ea"/>
                <a:ea typeface="+mn-ea"/>
              </a:rPr>
              <a:t>검증 테스트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" name="화살표: 오각형 17">
            <a:extLst>
              <a:ext uri="{FF2B5EF4-FFF2-40B4-BE49-F238E27FC236}">
                <a16:creationId xmlns:a16="http://schemas.microsoft.com/office/drawing/2014/main" id="{718C7E57-8FCC-1E6E-D9FC-B39CB7672434}"/>
              </a:ext>
            </a:extLst>
          </p:cNvPr>
          <p:cNvSpPr/>
          <p:nvPr/>
        </p:nvSpPr>
        <p:spPr bwMode="auto">
          <a:xfrm>
            <a:off x="9177079" y="6298567"/>
            <a:ext cx="766168" cy="244922"/>
          </a:xfrm>
          <a:prstGeom prst="homePlate">
            <a:avLst/>
          </a:prstGeom>
          <a:solidFill>
            <a:srgbClr val="DCEFF9"/>
          </a:solidFill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36000" rIns="0" bIns="36000" anchor="ctr"/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취합 및 보고</a:t>
            </a:r>
            <a:endParaRPr lang="ko-KR" altLang="en-US" sz="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" name="Content Placeholder 1397">
            <a:extLst>
              <a:ext uri="{FF2B5EF4-FFF2-40B4-BE49-F238E27FC236}">
                <a16:creationId xmlns:a16="http://schemas.microsoft.com/office/drawing/2014/main" id="{46C70926-05F5-15CE-5D63-31D7370D22DE}"/>
              </a:ext>
            </a:extLst>
          </p:cNvPr>
          <p:cNvSpPr txBox="1">
            <a:spLocks/>
          </p:cNvSpPr>
          <p:nvPr/>
        </p:nvSpPr>
        <p:spPr>
          <a:xfrm>
            <a:off x="148839" y="1071741"/>
            <a:ext cx="10292149" cy="501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ko-KR" sz="1600" dirty="0"/>
              <a:t>7</a:t>
            </a:r>
            <a:r>
              <a:rPr kumimoji="0" lang="ko-KR" altLang="en-US" sz="1600" dirty="0"/>
              <a:t>월 중순 워크샵 이후</a:t>
            </a:r>
            <a:r>
              <a:rPr kumimoji="0" lang="en-US" altLang="ko-KR" sz="1600" dirty="0"/>
              <a:t>,</a:t>
            </a:r>
            <a:r>
              <a:rPr kumimoji="0" lang="ko-KR" altLang="en-US" sz="1600" dirty="0"/>
              <a:t> 제반 준비 등으로 실제 </a:t>
            </a:r>
            <a:r>
              <a:rPr kumimoji="0" lang="en-US" altLang="ko-KR" sz="1600" dirty="0"/>
              <a:t>PoC</a:t>
            </a:r>
            <a:r>
              <a:rPr kumimoji="0" lang="ko-KR" altLang="en-US" sz="1600" dirty="0"/>
              <a:t>는 </a:t>
            </a:r>
            <a:r>
              <a:rPr kumimoji="0" lang="en-US" altLang="ko-KR" sz="1600" dirty="0"/>
              <a:t>10</a:t>
            </a:r>
            <a:r>
              <a:rPr kumimoji="0" lang="ko-KR" altLang="en-US" sz="1600" dirty="0"/>
              <a:t>월 중순부터 시작하여</a:t>
            </a:r>
            <a:r>
              <a:rPr kumimoji="0" lang="en-US" altLang="ko-KR" sz="1600" dirty="0"/>
              <a:t>,</a:t>
            </a:r>
            <a:r>
              <a:rPr kumimoji="0" lang="ko-KR" altLang="en-US" sz="1600" dirty="0"/>
              <a:t> 총 </a:t>
            </a:r>
            <a:r>
              <a:rPr kumimoji="0" lang="en-US" altLang="ko-KR" sz="1600" dirty="0"/>
              <a:t>1.5</a:t>
            </a:r>
            <a:r>
              <a:rPr kumimoji="0" lang="ko-KR" altLang="en-US" sz="1600" dirty="0"/>
              <a:t>개월 가량 진행 </a:t>
            </a:r>
            <a:endParaRPr kumimoji="0"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8799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0E91-2CD0-5DDE-34DD-75307DD9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69B1BFB-0341-8DB2-AAF9-851ADAF47C7A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kumimoji="0" lang="en-US" altLang="ko-KR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PoC 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주요 산출물</a:t>
            </a:r>
            <a:endParaRPr kumimoji="0" lang="ko-KR" altLang="en-US" sz="28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44737E-0F4E-CBA8-3218-D258DF4B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919752"/>
              </p:ext>
            </p:extLst>
          </p:nvPr>
        </p:nvGraphicFramePr>
        <p:xfrm>
          <a:off x="374470" y="1058649"/>
          <a:ext cx="9517675" cy="3067145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56803">
                  <a:extLst>
                    <a:ext uri="{9D8B030D-6E8A-4147-A177-3AD203B41FA5}">
                      <a16:colId xmlns:a16="http://schemas.microsoft.com/office/drawing/2014/main" val="1154337318"/>
                    </a:ext>
                  </a:extLst>
                </a:gridCol>
                <a:gridCol w="2501286">
                  <a:extLst>
                    <a:ext uri="{9D8B030D-6E8A-4147-A177-3AD203B41FA5}">
                      <a16:colId xmlns:a16="http://schemas.microsoft.com/office/drawing/2014/main" val="3163485511"/>
                    </a:ext>
                  </a:extLst>
                </a:gridCol>
                <a:gridCol w="6559586">
                  <a:extLst>
                    <a:ext uri="{9D8B030D-6E8A-4147-A177-3AD203B41FA5}">
                      <a16:colId xmlns:a16="http://schemas.microsoft.com/office/drawing/2014/main" val="1944924968"/>
                    </a:ext>
                  </a:extLst>
                </a:gridCol>
              </a:tblGrid>
              <a:tr h="4444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#</a:t>
                      </a:r>
                      <a:endParaRPr lang="en-US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2656" marR="32656" marT="16328" marB="1632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236378"/>
                  </a:ext>
                </a:extLst>
              </a:tr>
              <a:tr h="403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GitHub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온보딩</a:t>
                      </a:r>
                      <a:endParaRPr lang="ko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2"/>
                        </a:rPr>
                        <a:t>SALM SSO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2"/>
                        </a:rPr>
                        <a:t>설정 가이드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3"/>
                        </a:rPr>
                        <a:t>OIDC SSO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3"/>
                        </a:rPr>
                        <a:t>설정 가이드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4"/>
                        </a:rPr>
                        <a:t>EMU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4"/>
                        </a:rPr>
                        <a:t>전반 설정 가이드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123483722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GitHub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개발자 </a:t>
                      </a: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온보딩</a:t>
                      </a:r>
                      <a:endParaRPr lang="ko-KR" altLang="en-US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5"/>
                        </a:rPr>
                        <a:t>GitHub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5"/>
                        </a:rPr>
                        <a:t>과 함께 하는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5"/>
                        </a:rPr>
                        <a:t>AI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5"/>
                        </a:rPr>
                        <a:t>기반 개발 플랫폼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430860346"/>
                  </a:ext>
                </a:extLst>
              </a:tr>
              <a:tr h="890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지침 사용 가이드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6"/>
                        </a:rPr>
                        <a:t>GitHub Copilot instructions.md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6"/>
                        </a:rPr>
                        <a:t>활용 가이드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  <a:hlinkClick r:id="rId7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7"/>
                        </a:rPr>
                        <a:t>Customizing GH Copilot Instructions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8"/>
                        </a:rPr>
                        <a:t>Coding Convention Instruction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9"/>
                        </a:rPr>
                        <a:t>Agent.md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 and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10"/>
                        </a:rPr>
                        <a:t>Prompt file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3534209287"/>
                  </a:ext>
                </a:extLst>
              </a:tr>
              <a:tr h="936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KR" sz="1400" dirty="0">
                        <a:ln>
                          <a:solidFill>
                            <a:sysClr val="windowText" lastClr="000000"/>
                          </a:solidFill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 err="1">
                          <a:effectLst/>
                          <a:latin typeface="+mn-ea"/>
                          <a:ea typeface="+mn-ea"/>
                        </a:rPr>
                        <a:t>바이브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코딩 </a:t>
                      </a:r>
                      <a:r>
                        <a:rPr lang="en-US" altLang="ko-KR" sz="1400" dirty="0" err="1">
                          <a:effectLst/>
                          <a:latin typeface="+mn-ea"/>
                          <a:ea typeface="+mn-ea"/>
                        </a:rPr>
                        <a:t>HoL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 및 실제 개발자 작성 결과</a:t>
                      </a:r>
                    </a:p>
                  </a:txBody>
                  <a:tcPr marL="32656" marR="32656" marT="16328" marB="16328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기존 패치 업데이터의 캡쳐와 스펙 설명만으로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Copilot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</a:rPr>
                        <a:t>에게 어플 작성 요청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11"/>
                        </a:rPr>
                        <a:t>MockAppWinInstaller (C# XAML) by Microsoft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12"/>
                        </a:rPr>
                        <a:t>(GH Copilot Session cmds)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  <a:hlinkClick r:id="rId11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effectLst/>
                          <a:latin typeface="+mn-ea"/>
                          <a:ea typeface="+mn-ea"/>
                          <a:hlinkClick r:id="rId13"/>
                        </a:rPr>
                        <a:t>Qt Patch Installer by </a:t>
                      </a:r>
                      <a:r>
                        <a:rPr lang="ko-KR" altLang="en-US" sz="1400" dirty="0">
                          <a:effectLst/>
                          <a:latin typeface="+mn-ea"/>
                          <a:ea typeface="+mn-ea"/>
                          <a:hlinkClick r:id="rId13"/>
                        </a:rPr>
                        <a:t>권준수 매니저</a:t>
                      </a:r>
                      <a:endParaRPr lang="en-US" altLang="ko-KR" sz="1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656" marR="32656" marT="16328" marB="16328" anchor="ctr"/>
                </a:tc>
                <a:extLst>
                  <a:ext uri="{0D108BD9-81ED-4DB2-BD59-A6C34878D82A}">
                    <a16:rowId xmlns:a16="http://schemas.microsoft.com/office/drawing/2014/main" val="18212258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89AC8A5-AD45-DC8E-F40A-434933B9556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470" y="4359675"/>
            <a:ext cx="4610461" cy="2152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1C8A39-D301-BE64-4C64-6D6ECDB3EC0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20494" y="4359675"/>
            <a:ext cx="4671651" cy="219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30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E130C-E6DD-2799-C029-B982642C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D75C6F8-EFFA-3DEB-9DFB-DAEE40734F55}"/>
              </a:ext>
            </a:extLst>
          </p:cNvPr>
          <p:cNvSpPr txBox="1">
            <a:spLocks noChangeArrowheads="1"/>
          </p:cNvSpPr>
          <p:nvPr/>
        </p:nvSpPr>
        <p:spPr>
          <a:xfrm>
            <a:off x="148839" y="153578"/>
            <a:ext cx="10181024" cy="503647"/>
          </a:xfrm>
          <a:prstGeom prst="rect">
            <a:avLst/>
          </a:prstGeom>
        </p:spPr>
        <p:txBody>
          <a:bodyPr/>
          <a:lstStyle>
            <a:lvl1pPr algn="ctr" defTabSz="1043994" rtl="0" eaLnBrk="1" latinLnBrk="1" hangingPunct="1">
              <a:spcBef>
                <a:spcPct val="0"/>
              </a:spcBef>
              <a:buNone/>
              <a:defRPr sz="502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kumimoji="0" lang="en-US" altLang="ko-KR" sz="28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7. </a:t>
            </a:r>
            <a:r>
              <a:rPr kumimoji="0" lang="ko-KR" altLang="en-US" sz="28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향후 제언 </a:t>
            </a:r>
            <a:endParaRPr kumimoji="0" lang="ko-KR" altLang="en-US" sz="28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1C732-FE47-6B7B-4E1C-9CAA7AC389AD}"/>
              </a:ext>
            </a:extLst>
          </p:cNvPr>
          <p:cNvSpPr txBox="1"/>
          <p:nvPr/>
        </p:nvSpPr>
        <p:spPr>
          <a:xfrm>
            <a:off x="478973" y="922787"/>
            <a:ext cx="91059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latin typeface="+mn-ea"/>
                <a:ea typeface="+mn-ea"/>
              </a:rPr>
              <a:t>단기 </a:t>
            </a:r>
            <a:r>
              <a:rPr lang="en-US" altLang="ko-KR" sz="2000" b="1" dirty="0">
                <a:latin typeface="+mn-ea"/>
                <a:ea typeface="+mn-ea"/>
              </a:rPr>
              <a:t>:</a:t>
            </a:r>
            <a:r>
              <a:rPr lang="ko-KR" altLang="en-US" sz="2000" b="1" dirty="0">
                <a:latin typeface="+mn-ea"/>
                <a:ea typeface="+mn-ea"/>
              </a:rPr>
              <a:t> 로컬 </a:t>
            </a:r>
            <a:r>
              <a:rPr lang="en-US" altLang="ko-KR" sz="2000" b="1" dirty="0">
                <a:latin typeface="+mn-ea"/>
                <a:ea typeface="+mn-ea"/>
              </a:rPr>
              <a:t>Git</a:t>
            </a:r>
            <a:r>
              <a:rPr lang="ko-KR" altLang="en-US" sz="2000" b="1" dirty="0">
                <a:latin typeface="+mn-ea"/>
                <a:ea typeface="+mn-ea"/>
              </a:rPr>
              <a:t> 사용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GitHub</a:t>
            </a:r>
            <a:r>
              <a:rPr lang="ko-KR" altLang="en-US" sz="1600" dirty="0">
                <a:latin typeface="+mn-ea"/>
                <a:ea typeface="+mn-ea"/>
              </a:rPr>
              <a:t>을 사용하지 않는 현재 로컬 개발자 환경을 고려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동시에 </a:t>
            </a:r>
            <a:r>
              <a:rPr lang="en-US" altLang="ko-KR" sz="1600" dirty="0">
                <a:latin typeface="+mn-ea"/>
                <a:ea typeface="+mn-ea"/>
              </a:rPr>
              <a:t>GH Copilot</a:t>
            </a:r>
            <a:r>
              <a:rPr lang="ko-KR" altLang="en-US" sz="1600" dirty="0">
                <a:latin typeface="+mn-ea"/>
                <a:ea typeface="+mn-ea"/>
              </a:rPr>
              <a:t>을 통한 생산성과 코딩 일관성을 도모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GH Copilot </a:t>
            </a:r>
            <a:r>
              <a:rPr lang="ko-KR" altLang="en-US" sz="1600" dirty="0">
                <a:latin typeface="+mn-ea"/>
                <a:ea typeface="+mn-ea"/>
              </a:rPr>
              <a:t>제안 및 수정을 특정 시점으로 원복하기 위해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BB45E-B976-5E3E-55A7-91EF3E69DB1D}"/>
              </a:ext>
            </a:extLst>
          </p:cNvPr>
          <p:cNvSpPr txBox="1"/>
          <p:nvPr/>
        </p:nvSpPr>
        <p:spPr>
          <a:xfrm>
            <a:off x="478973" y="2185726"/>
            <a:ext cx="91059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ko-KR" altLang="en-US" sz="2000" b="1" dirty="0">
                <a:latin typeface="+mn-ea"/>
                <a:ea typeface="+mn-ea"/>
              </a:rPr>
              <a:t>단기 </a:t>
            </a:r>
            <a:r>
              <a:rPr lang="en-US" altLang="ko-KR" sz="2000" b="1" dirty="0">
                <a:latin typeface="+mn-ea"/>
                <a:ea typeface="+mn-ea"/>
              </a:rPr>
              <a:t>:</a:t>
            </a:r>
            <a:r>
              <a:rPr lang="ko-KR" altLang="en-US" sz="2000" b="1" dirty="0">
                <a:latin typeface="+mn-ea"/>
                <a:ea typeface="+mn-ea"/>
              </a:rPr>
              <a:t> 로컬 개발 </a:t>
            </a:r>
            <a:r>
              <a:rPr lang="ko-KR" altLang="en-US" sz="2000" b="1" dirty="0" err="1">
                <a:latin typeface="+mn-ea"/>
                <a:ea typeface="+mn-ea"/>
              </a:rPr>
              <a:t>환경에서라도</a:t>
            </a:r>
            <a:r>
              <a:rPr lang="ko-KR" altLang="en-US" sz="2000" b="1" dirty="0">
                <a:latin typeface="+mn-ea"/>
                <a:ea typeface="+mn-ea"/>
              </a:rPr>
              <a:t> 지침</a:t>
            </a:r>
            <a:r>
              <a:rPr lang="en-US" altLang="ko-KR" sz="2000" b="1" dirty="0">
                <a:latin typeface="+mn-ea"/>
                <a:ea typeface="+mn-ea"/>
              </a:rPr>
              <a:t>(</a:t>
            </a:r>
            <a:r>
              <a:rPr lang="en-US" altLang="ko-KR" sz="2000" b="1" dirty="0" err="1">
                <a:latin typeface="+mn-ea"/>
                <a:ea typeface="+mn-ea"/>
              </a:rPr>
              <a:t>instructions.md</a:t>
            </a:r>
            <a:r>
              <a:rPr lang="en-US" altLang="ko-KR" sz="2000" b="1" dirty="0">
                <a:latin typeface="+mn-ea"/>
                <a:ea typeface="+mn-ea"/>
              </a:rPr>
              <a:t>) </a:t>
            </a:r>
            <a:r>
              <a:rPr lang="ko-KR" altLang="en-US" sz="2000" b="1" dirty="0">
                <a:latin typeface="+mn-ea"/>
                <a:ea typeface="+mn-ea"/>
              </a:rPr>
              <a:t>적극 활용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비록 개별 개발자 </a:t>
            </a:r>
            <a:r>
              <a:rPr lang="ko-KR" altLang="en-US" sz="1600" dirty="0" err="1">
                <a:latin typeface="+mn-ea"/>
                <a:ea typeface="+mn-ea"/>
              </a:rPr>
              <a:t>환경에서라도</a:t>
            </a:r>
            <a:r>
              <a:rPr lang="ko-KR" altLang="en-US" sz="1600" dirty="0">
                <a:latin typeface="+mn-ea"/>
                <a:ea typeface="+mn-ea"/>
              </a:rPr>
              <a:t> 전역 및 경로별 지침의 적극 활용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추가적으로 </a:t>
            </a:r>
            <a:r>
              <a:rPr lang="en-US" altLang="ko-KR" sz="1600" dirty="0" err="1">
                <a:latin typeface="+mn-ea"/>
                <a:ea typeface="+mn-ea"/>
              </a:rPr>
              <a:t>Agents.md</a:t>
            </a:r>
            <a:r>
              <a:rPr lang="ko-KR" altLang="en-US" sz="1600" dirty="0">
                <a:latin typeface="+mn-ea"/>
                <a:ea typeface="+mn-ea"/>
              </a:rPr>
              <a:t>로 </a:t>
            </a:r>
            <a:r>
              <a:rPr lang="en-US" altLang="ko-KR" sz="1600" i="1" dirty="0">
                <a:latin typeface="+mn-ea"/>
                <a:ea typeface="+mn-ea"/>
              </a:rPr>
              <a:t>Pseudo-agent</a:t>
            </a:r>
            <a:r>
              <a:rPr lang="ko-KR" altLang="en-US" sz="1600" i="1" dirty="0">
                <a:latin typeface="+mn-ea"/>
                <a:ea typeface="+mn-ea"/>
              </a:rPr>
              <a:t>화</a:t>
            </a:r>
            <a:r>
              <a:rPr lang="ko-KR" altLang="en-US" sz="1600" dirty="0">
                <a:latin typeface="+mn-ea"/>
                <a:ea typeface="+mn-ea"/>
              </a:rPr>
              <a:t> 및 </a:t>
            </a:r>
            <a:r>
              <a:rPr lang="en-US" altLang="ko-KR" sz="1600" dirty="0">
                <a:latin typeface="+mn-ea"/>
                <a:ea typeface="+mn-ea"/>
              </a:rPr>
              <a:t>Prompt </a:t>
            </a:r>
            <a:r>
              <a:rPr lang="ko-KR" altLang="en-US" sz="1600" dirty="0">
                <a:latin typeface="+mn-ea"/>
                <a:ea typeface="+mn-ea"/>
              </a:rPr>
              <a:t>파일로 반자동화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단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dirty="0">
                <a:latin typeface="+mn-ea"/>
                <a:ea typeface="+mn-ea"/>
              </a:rPr>
              <a:t>AI</a:t>
            </a:r>
            <a:r>
              <a:rPr lang="ko-KR" altLang="en-US" sz="1600" dirty="0">
                <a:latin typeface="+mn-ea"/>
                <a:ea typeface="+mn-ea"/>
              </a:rPr>
              <a:t>의 특성 상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dirty="0">
                <a:latin typeface="+mn-ea"/>
                <a:ea typeface="+mn-ea"/>
              </a:rPr>
              <a:t>100%</a:t>
            </a:r>
            <a:r>
              <a:rPr lang="ko-KR" altLang="en-US" sz="1600" dirty="0">
                <a:latin typeface="+mn-ea"/>
                <a:ea typeface="+mn-ea"/>
              </a:rPr>
              <a:t> 강제 적용은 보장할 수 없는 점 고려 필요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ko-KR" altLang="en-US" sz="1600" dirty="0">
                <a:latin typeface="+mn-ea"/>
                <a:ea typeface="+mn-ea"/>
              </a:rPr>
              <a:t>로컬 환경에서 가능한 대안</a:t>
            </a:r>
            <a:endParaRPr lang="en-US" altLang="ko-KR" sz="1600" dirty="0">
              <a:latin typeface="+mn-ea"/>
              <a:ea typeface="+mn-ea"/>
            </a:endParaRPr>
          </a:p>
          <a:p>
            <a:pPr marL="1828420" lvl="3" indent="-457200">
              <a:buFont typeface="Wingdings" pitchFamily="2" charset="2"/>
              <a:buChar char="§"/>
            </a:pPr>
            <a:r>
              <a:rPr lang="en-US" altLang="ko-KR" sz="1600" dirty="0">
                <a:latin typeface="+mn-ea"/>
                <a:ea typeface="+mn-ea"/>
              </a:rPr>
              <a:t>Pre-commit hook : </a:t>
            </a:r>
            <a:r>
              <a:rPr lang="ko-KR" altLang="en-US" sz="1600" dirty="0">
                <a:latin typeface="+mn-ea"/>
                <a:ea typeface="+mn-ea"/>
              </a:rPr>
              <a:t>컨벤션 준수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보안 규칙 강제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dirty="0">
                <a:latin typeface="+mn-ea"/>
                <a:ea typeface="+mn-ea"/>
              </a:rPr>
              <a:t>Secret </a:t>
            </a:r>
            <a:r>
              <a:rPr lang="ko-KR" altLang="en-US" sz="1600" dirty="0">
                <a:latin typeface="+mn-ea"/>
                <a:ea typeface="+mn-ea"/>
              </a:rPr>
              <a:t>유출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컨벤션 체크 등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altLang="ko-KR" sz="1600" dirty="0">
                <a:latin typeface="+mn-ea"/>
                <a:ea typeface="+mn-ea"/>
              </a:rPr>
              <a:t>GitHub </a:t>
            </a:r>
            <a:r>
              <a:rPr lang="ko-KR" altLang="en-US" sz="1600" dirty="0">
                <a:latin typeface="+mn-ea"/>
                <a:ea typeface="+mn-ea"/>
              </a:rPr>
              <a:t>저장소 사용 시 </a:t>
            </a:r>
            <a:endParaRPr lang="en-US" altLang="ko-KR" sz="1600" dirty="0">
              <a:latin typeface="+mn-ea"/>
              <a:ea typeface="+mn-ea"/>
            </a:endParaRPr>
          </a:p>
          <a:p>
            <a:pPr marL="1828420" lvl="3" indent="-457200">
              <a:buFont typeface="Wingdings" pitchFamily="2" charset="2"/>
              <a:buChar char="§"/>
            </a:pPr>
            <a:r>
              <a:rPr lang="en-US" altLang="ko-KR" sz="1600" dirty="0">
                <a:latin typeface="+mn-ea"/>
                <a:ea typeface="+mn-ea"/>
              </a:rPr>
              <a:t>Linter + PR Gateway + </a:t>
            </a:r>
            <a:r>
              <a:rPr lang="en-US" altLang="ko-KR" sz="1600" dirty="0" err="1">
                <a:latin typeface="+mn-ea"/>
                <a:ea typeface="+mn-ea"/>
              </a:rPr>
              <a:t>CodeQL</a:t>
            </a:r>
            <a:r>
              <a:rPr lang="en-US" altLang="ko-KR" sz="1600" dirty="0">
                <a:latin typeface="+mn-ea"/>
                <a:ea typeface="+mn-ea"/>
              </a:rPr>
              <a:t> + Branch </a:t>
            </a:r>
            <a:r>
              <a:rPr lang="ko-KR" altLang="en-US" sz="1600" dirty="0">
                <a:latin typeface="+mn-ea"/>
                <a:ea typeface="+mn-ea"/>
              </a:rPr>
              <a:t>보호 </a:t>
            </a:r>
            <a:r>
              <a:rPr lang="en-US" altLang="ko-KR" sz="1600" dirty="0">
                <a:latin typeface="+mn-ea"/>
                <a:ea typeface="+mn-ea"/>
              </a:rPr>
              <a:t>+ (</a:t>
            </a:r>
            <a:r>
              <a:rPr lang="en-US" altLang="ko-KR" sz="1600" dirty="0" err="1">
                <a:latin typeface="+mn-ea"/>
                <a:ea typeface="+mn-ea"/>
              </a:rPr>
              <a:t>Codespace</a:t>
            </a:r>
            <a:r>
              <a:rPr lang="en-US" altLang="ko-KR" sz="1600" dirty="0">
                <a:latin typeface="+mn-ea"/>
                <a:ea typeface="+mn-ea"/>
              </a:rPr>
              <a:t> x MCP)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14197-BA2F-1107-A4E4-413E66939806}"/>
              </a:ext>
            </a:extLst>
          </p:cNvPr>
          <p:cNvSpPr txBox="1"/>
          <p:nvPr/>
        </p:nvSpPr>
        <p:spPr>
          <a:xfrm>
            <a:off x="478973" y="4333138"/>
            <a:ext cx="91059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000" b="1" dirty="0">
                <a:latin typeface="+mn-ea"/>
                <a:ea typeface="+mn-ea"/>
              </a:rPr>
              <a:t>중장기 </a:t>
            </a:r>
            <a:r>
              <a:rPr lang="en-US" altLang="ko-KR" sz="2000" b="1" dirty="0">
                <a:latin typeface="+mn-ea"/>
                <a:ea typeface="+mn-ea"/>
              </a:rPr>
              <a:t>:</a:t>
            </a:r>
            <a:r>
              <a:rPr lang="ko-KR" altLang="en-US" sz="2000" b="1" dirty="0">
                <a:latin typeface="+mn-ea"/>
                <a:ea typeface="+mn-ea"/>
              </a:rPr>
              <a:t> 협업 플랫폼으로서 </a:t>
            </a:r>
            <a:r>
              <a:rPr lang="en-US" altLang="ko-KR" sz="2000" b="1" dirty="0">
                <a:latin typeface="+mn-ea"/>
                <a:ea typeface="+mn-ea"/>
              </a:rPr>
              <a:t>GitHub </a:t>
            </a:r>
            <a:r>
              <a:rPr lang="ko-KR" altLang="en-US" sz="2000" b="1" dirty="0">
                <a:latin typeface="+mn-ea"/>
                <a:ea typeface="+mn-ea"/>
              </a:rPr>
              <a:t>도입하여 </a:t>
            </a:r>
            <a:r>
              <a:rPr lang="en-US" altLang="ko-KR" sz="2000" b="1" dirty="0">
                <a:latin typeface="+mn-ea"/>
                <a:ea typeface="+mn-ea"/>
              </a:rPr>
              <a:t>GH Copilot </a:t>
            </a:r>
            <a:r>
              <a:rPr lang="ko-KR" altLang="en-US" sz="2000" b="1" dirty="0">
                <a:latin typeface="+mn-ea"/>
                <a:ea typeface="+mn-ea"/>
              </a:rPr>
              <a:t>활용 극대화</a:t>
            </a: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  <a:ea typeface="+mn-ea"/>
              </a:rPr>
              <a:t>근시일 내 임베디드 시스템이 멀티 </a:t>
            </a:r>
            <a:r>
              <a:rPr lang="ko-KR" altLang="en-US" sz="1600" dirty="0" err="1">
                <a:latin typeface="+mn-ea"/>
                <a:ea typeface="+mn-ea"/>
              </a:rPr>
              <a:t>코어화할</a:t>
            </a:r>
            <a:r>
              <a:rPr lang="ko-KR" altLang="en-US" sz="1600" dirty="0">
                <a:latin typeface="+mn-ea"/>
                <a:ea typeface="+mn-ea"/>
              </a:rPr>
              <a:t> 경우</a:t>
            </a:r>
            <a:r>
              <a:rPr lang="en-US" altLang="ko-KR" sz="1600" dirty="0">
                <a:latin typeface="+mn-ea"/>
                <a:ea typeface="+mn-ea"/>
              </a:rPr>
              <a:t>,</a:t>
            </a:r>
            <a:r>
              <a:rPr lang="ko-KR" altLang="en-US" sz="1600" dirty="0">
                <a:latin typeface="+mn-ea"/>
                <a:ea typeface="+mn-ea"/>
              </a:rPr>
              <a:t> 개별 모듈 개발자간 협업 절실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GitHub </a:t>
            </a:r>
            <a:r>
              <a:rPr lang="ko-KR" altLang="en-US" sz="1600" dirty="0">
                <a:latin typeface="+mn-ea"/>
                <a:ea typeface="+mn-ea"/>
              </a:rPr>
              <a:t>저장소의 도입은 </a:t>
            </a:r>
            <a:r>
              <a:rPr lang="en-US" altLang="ko-KR" sz="1600" dirty="0">
                <a:latin typeface="+mn-ea"/>
                <a:ea typeface="+mn-ea"/>
              </a:rPr>
              <a:t>GH Copilot </a:t>
            </a:r>
            <a:r>
              <a:rPr lang="ko-KR" altLang="en-US" sz="1600" dirty="0">
                <a:latin typeface="+mn-ea"/>
                <a:ea typeface="+mn-ea"/>
              </a:rPr>
              <a:t>기능을 최대치로 활용할 수 있는 지름길</a:t>
            </a:r>
            <a:endParaRPr lang="en-US" altLang="ko-KR" sz="1600" dirty="0">
              <a:latin typeface="+mn-ea"/>
              <a:ea typeface="+mn-ea"/>
            </a:endParaRPr>
          </a:p>
          <a:p>
            <a:pPr marL="914273" lvl="1" indent="-45720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  <a:ea typeface="+mn-ea"/>
              </a:rPr>
              <a:t>GH Copilot </a:t>
            </a:r>
            <a:r>
              <a:rPr lang="ko-KR" altLang="en-US" sz="1600" dirty="0">
                <a:latin typeface="+mn-ea"/>
                <a:ea typeface="+mn-ea"/>
              </a:rPr>
              <a:t>활용 관점에서 코드 저장소로서 </a:t>
            </a:r>
            <a:r>
              <a:rPr lang="en-US" altLang="ko-KR" sz="1600" dirty="0">
                <a:latin typeface="+mn-ea"/>
                <a:ea typeface="+mn-ea"/>
              </a:rPr>
              <a:t>GitHub </a:t>
            </a:r>
            <a:r>
              <a:rPr lang="ko-KR" altLang="en-US" sz="1600" dirty="0">
                <a:latin typeface="+mn-ea"/>
                <a:ea typeface="+mn-ea"/>
              </a:rPr>
              <a:t>도입 효과</a:t>
            </a:r>
            <a:endParaRPr lang="en-US" altLang="ko-KR" sz="16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altLang="ko-KR" sz="1200" dirty="0">
                <a:latin typeface="+mn-ea"/>
                <a:ea typeface="+mn-ea"/>
              </a:rPr>
              <a:t>Codebase Context : </a:t>
            </a:r>
            <a:r>
              <a:rPr lang="en-US" altLang="ko-KR" sz="1200" dirty="0" err="1">
                <a:latin typeface="+mn-ea"/>
                <a:ea typeface="+mn-ea"/>
              </a:rPr>
              <a:t>Codespace</a:t>
            </a:r>
            <a:r>
              <a:rPr lang="en-US" altLang="ko-KR" sz="1200" dirty="0">
                <a:latin typeface="+mn-ea"/>
                <a:ea typeface="+mn-ea"/>
              </a:rPr>
              <a:t> + MCP</a:t>
            </a:r>
            <a:r>
              <a:rPr lang="ko-KR" altLang="en-US" sz="1200" dirty="0">
                <a:latin typeface="+mn-ea"/>
                <a:ea typeface="+mn-ea"/>
              </a:rPr>
              <a:t>로 파일 혹은 개별 워크스페이스 넘는 조직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  <a:r>
              <a:rPr lang="ko-KR" altLang="en-US" sz="1200" dirty="0">
                <a:latin typeface="+mn-ea"/>
                <a:ea typeface="+mn-ea"/>
              </a:rPr>
              <a:t>팀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  <a:r>
              <a:rPr lang="ko-KR" altLang="en-US" sz="1200" dirty="0" err="1">
                <a:latin typeface="+mn-ea"/>
                <a:ea typeface="+mn-ea"/>
              </a:rPr>
              <a:t>레포지터리</a:t>
            </a:r>
            <a:r>
              <a:rPr lang="ko-KR" altLang="en-US" sz="1200" dirty="0">
                <a:latin typeface="+mn-ea"/>
                <a:ea typeface="+mn-ea"/>
              </a:rPr>
              <a:t> 차원에서 코드 맥락 제공 </a:t>
            </a:r>
            <a:endParaRPr lang="en-US" altLang="ko-KR" sz="12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altLang="ko-KR" sz="1200" dirty="0">
                <a:latin typeface="+mn-ea"/>
                <a:ea typeface="+mn-ea"/>
              </a:rPr>
              <a:t>GH Copilot</a:t>
            </a:r>
            <a:r>
              <a:rPr lang="ko-KR" altLang="en-US" sz="1200" dirty="0">
                <a:latin typeface="+mn-ea"/>
                <a:ea typeface="+mn-ea"/>
              </a:rPr>
              <a:t>이 수행하는 </a:t>
            </a:r>
            <a:r>
              <a:rPr lang="en-US" altLang="ko-KR" sz="1200" dirty="0">
                <a:latin typeface="+mn-ea"/>
                <a:ea typeface="+mn-ea"/>
              </a:rPr>
              <a:t>PR </a:t>
            </a:r>
            <a:r>
              <a:rPr lang="ko-KR" altLang="en-US" sz="1200" dirty="0">
                <a:latin typeface="+mn-ea"/>
                <a:ea typeface="+mn-ea"/>
              </a:rPr>
              <a:t>리뷰 및 자동 </a:t>
            </a:r>
            <a:r>
              <a:rPr lang="ko-KR" altLang="en-US" sz="1200" dirty="0" err="1">
                <a:latin typeface="+mn-ea"/>
                <a:ea typeface="+mn-ea"/>
              </a:rPr>
              <a:t>픽스</a:t>
            </a:r>
            <a:r>
              <a:rPr lang="ko-KR" altLang="en-US" sz="1200" dirty="0">
                <a:latin typeface="+mn-ea"/>
                <a:ea typeface="+mn-ea"/>
              </a:rPr>
              <a:t> 기능</a:t>
            </a:r>
            <a:endParaRPr lang="en-US" altLang="ko-KR" sz="12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altLang="ko-KR" sz="1200" dirty="0">
                <a:latin typeface="+mn-ea"/>
                <a:ea typeface="+mn-ea"/>
              </a:rPr>
              <a:t>Organization</a:t>
            </a:r>
            <a:r>
              <a:rPr lang="ko-KR" altLang="en-US" sz="1200" dirty="0">
                <a:latin typeface="+mn-ea"/>
                <a:ea typeface="+mn-ea"/>
              </a:rPr>
              <a:t> 차원의 지침 적용 </a:t>
            </a:r>
            <a:endParaRPr lang="en-US" altLang="ko-KR" sz="12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ko-KR" altLang="en-US" sz="1200" dirty="0">
                <a:latin typeface="+mn-ea"/>
                <a:ea typeface="+mn-ea"/>
              </a:rPr>
              <a:t>팀*조직에 맞는 문서화 정책 </a:t>
            </a:r>
            <a:endParaRPr lang="en-US" altLang="ko-KR" sz="1200" dirty="0">
              <a:latin typeface="+mn-ea"/>
              <a:ea typeface="+mn-ea"/>
            </a:endParaRP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altLang="ko-KR" sz="1200" dirty="0" err="1">
                <a:latin typeface="+mn-ea"/>
                <a:ea typeface="+mn-ea"/>
              </a:rPr>
              <a:t>CodeQL</a:t>
            </a:r>
            <a:r>
              <a:rPr lang="en-US" altLang="ko-KR" sz="1200" dirty="0">
                <a:latin typeface="+mn-ea"/>
                <a:ea typeface="+mn-ea"/>
              </a:rPr>
              <a:t> : </a:t>
            </a:r>
            <a:r>
              <a:rPr lang="ko-KR" altLang="en-US" sz="1200" dirty="0">
                <a:latin typeface="+mn-ea"/>
                <a:ea typeface="+mn-ea"/>
              </a:rPr>
              <a:t>고급 정적 분석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코드</a:t>
            </a:r>
            <a:r>
              <a:rPr lang="en-US" sz="1200" dirty="0">
                <a:latin typeface="+mn-ea"/>
                <a:ea typeface="+mn-ea"/>
              </a:rPr>
              <a:t>QL)</a:t>
            </a:r>
            <a:r>
              <a:rPr lang="ko-KR" altLang="en-US" sz="1200" dirty="0" err="1">
                <a:latin typeface="+mn-ea"/>
                <a:ea typeface="+mn-ea"/>
              </a:rPr>
              <a:t>으로</a:t>
            </a:r>
            <a:r>
              <a:rPr lang="ko-KR" altLang="en-US" sz="1200" dirty="0">
                <a:latin typeface="+mn-ea"/>
                <a:ea typeface="+mn-ea"/>
              </a:rPr>
              <a:t> 취약점</a:t>
            </a:r>
            <a:r>
              <a:rPr lang="en-US" altLang="ko-KR" sz="1200" dirty="0">
                <a:latin typeface="+mn-ea"/>
                <a:ea typeface="+mn-ea"/>
              </a:rPr>
              <a:t>·</a:t>
            </a:r>
            <a:r>
              <a:rPr lang="ko-KR" altLang="en-US" sz="1200" dirty="0">
                <a:latin typeface="+mn-ea"/>
                <a:ea typeface="+mn-ea"/>
              </a:rPr>
              <a:t>버그 자동 탐지</a:t>
            </a: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sz="1200" dirty="0">
                <a:latin typeface="+mn-ea"/>
                <a:ea typeface="+mn-ea"/>
              </a:rPr>
              <a:t>Secret Scan : </a:t>
            </a:r>
            <a:r>
              <a:rPr lang="ko-KR" altLang="en-US" sz="1200" dirty="0">
                <a:latin typeface="+mn-ea"/>
                <a:ea typeface="+mn-ea"/>
              </a:rPr>
              <a:t>토큰</a:t>
            </a:r>
            <a:r>
              <a:rPr lang="en-US" altLang="ko-KR" sz="1200" dirty="0">
                <a:latin typeface="+mn-ea"/>
                <a:ea typeface="+mn-ea"/>
              </a:rPr>
              <a:t>·</a:t>
            </a:r>
            <a:r>
              <a:rPr lang="ko-KR" altLang="en-US" sz="1200" dirty="0">
                <a:latin typeface="+mn-ea"/>
                <a:ea typeface="+mn-ea"/>
              </a:rPr>
              <a:t>비밀번호</a:t>
            </a:r>
            <a:r>
              <a:rPr lang="en-US" altLang="ko-KR" sz="1200" dirty="0">
                <a:latin typeface="+mn-ea"/>
                <a:ea typeface="+mn-ea"/>
              </a:rPr>
              <a:t>·</a:t>
            </a:r>
            <a:r>
              <a:rPr lang="en-US" sz="1200" dirty="0">
                <a:latin typeface="+mn-ea"/>
                <a:ea typeface="+mn-ea"/>
              </a:rPr>
              <a:t>API </a:t>
            </a:r>
            <a:r>
              <a:rPr lang="ko-KR" altLang="en-US" sz="1200" dirty="0">
                <a:latin typeface="+mn-ea"/>
                <a:ea typeface="+mn-ea"/>
              </a:rPr>
              <a:t>키 등 </a:t>
            </a:r>
            <a:r>
              <a:rPr lang="en-US" sz="1200" dirty="0">
                <a:latin typeface="+mn-ea"/>
                <a:ea typeface="+mn-ea"/>
              </a:rPr>
              <a:t>Secrets </a:t>
            </a:r>
            <a:r>
              <a:rPr lang="ko-KR" altLang="en-US" sz="1200" dirty="0">
                <a:latin typeface="+mn-ea"/>
                <a:ea typeface="+mn-ea"/>
              </a:rPr>
              <a:t>유출 여부 자동 탐지</a:t>
            </a:r>
          </a:p>
          <a:p>
            <a:pPr marL="1371346" lvl="2" indent="-457200">
              <a:buFont typeface="Courier New" panose="02070309020205020404" pitchFamily="49" charset="0"/>
              <a:buChar char="o"/>
            </a:pPr>
            <a:r>
              <a:rPr lang="en-US" sz="1200" dirty="0" err="1">
                <a:latin typeface="+mn-ea"/>
                <a:ea typeface="+mn-ea"/>
              </a:rPr>
              <a:t>Dependabot</a:t>
            </a:r>
            <a:r>
              <a:rPr lang="en-US" sz="1200" dirty="0">
                <a:latin typeface="+mn-ea"/>
                <a:ea typeface="+mn-ea"/>
              </a:rPr>
              <a:t> : </a:t>
            </a:r>
            <a:r>
              <a:rPr lang="ko-KR" altLang="en-US" sz="1200" dirty="0">
                <a:latin typeface="+mn-ea"/>
                <a:ea typeface="+mn-ea"/>
              </a:rPr>
              <a:t>취약한 라이브러리</a:t>
            </a:r>
            <a:r>
              <a:rPr lang="en-US" altLang="ko-KR" sz="1200" dirty="0">
                <a:latin typeface="+mn-ea"/>
                <a:ea typeface="+mn-ea"/>
              </a:rPr>
              <a:t>·</a:t>
            </a:r>
            <a:r>
              <a:rPr lang="ko-KR" altLang="en-US" sz="1200" dirty="0">
                <a:latin typeface="+mn-ea"/>
                <a:ea typeface="+mn-ea"/>
              </a:rPr>
              <a:t>패키지 버전 자동 탐지 및 업데이트 </a:t>
            </a:r>
            <a:r>
              <a:rPr lang="en-US" sz="1200" dirty="0">
                <a:latin typeface="+mn-ea"/>
                <a:ea typeface="+mn-ea"/>
              </a:rPr>
              <a:t>PR </a:t>
            </a:r>
            <a:r>
              <a:rPr lang="ko-KR" altLang="en-US" sz="1200" dirty="0">
                <a:latin typeface="+mn-ea"/>
                <a:ea typeface="+mn-ea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125767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9">
          <a:extLst>
            <a:ext uri="{FF2B5EF4-FFF2-40B4-BE49-F238E27FC236}">
              <a16:creationId xmlns:a16="http://schemas.microsoft.com/office/drawing/2014/main" id="{7DC66D33-DFF5-3308-D97B-B6119E89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50">
            <a:extLst>
              <a:ext uri="{FF2B5EF4-FFF2-40B4-BE49-F238E27FC236}">
                <a16:creationId xmlns:a16="http://schemas.microsoft.com/office/drawing/2014/main" id="{FAC3F6A1-1917-CB32-CA13-98F93C5E1D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9700" y="2960586"/>
            <a:ext cx="6301588" cy="138767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수고하셨습니다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06091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FF00"/>
      </a:dk2>
      <a:lt2>
        <a:srgbClr val="FF0000"/>
      </a:lt2>
      <a:accent1>
        <a:srgbClr val="0000FF"/>
      </a:accent1>
      <a:accent2>
        <a:srgbClr val="00FFFF"/>
      </a:accent2>
      <a:accent3>
        <a:srgbClr val="FFFFFF"/>
      </a:accent3>
      <a:accent4>
        <a:srgbClr val="000000"/>
      </a:accent4>
      <a:accent5>
        <a:srgbClr val="AAAAFF"/>
      </a:accent5>
      <a:accent6>
        <a:srgbClr val="00E7E7"/>
      </a:accent6>
      <a:hlink>
        <a:srgbClr val="FF00FF"/>
      </a:hlink>
      <a:folHlink>
        <a:srgbClr val="FFFF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FF00"/>
      </a:dk2>
      <a:lt2>
        <a:srgbClr val="FF0000"/>
      </a:lt2>
      <a:accent1>
        <a:srgbClr val="0000FF"/>
      </a:accent1>
      <a:accent2>
        <a:srgbClr val="00FFFF"/>
      </a:accent2>
      <a:accent3>
        <a:srgbClr val="FFFFFF"/>
      </a:accent3>
      <a:accent4>
        <a:srgbClr val="000000"/>
      </a:accent4>
      <a:accent5>
        <a:srgbClr val="AAAAFF"/>
      </a:accent5>
      <a:accent6>
        <a:srgbClr val="00E7E7"/>
      </a:accent6>
      <a:hlink>
        <a:srgbClr val="FF00FF"/>
      </a:hlink>
      <a:folHlink>
        <a:srgbClr val="FFFF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7622c530-37a4-4326-9806-500499ba5cfe">
      <Terms xmlns="http://schemas.microsoft.com/office/infopath/2007/PartnerControls"/>
    </lcf76f155ced4ddcb4097134ff3c332f>
    <TaxCatchAll xmlns="b5ccf674-81f3-48a3-8f4b-dfbde9b97e03" xsi:nil="true"/>
    <_Flow_SignoffStatus xmlns="7622c530-37a4-4326-9806-500499ba5cfe" xsi:nil="true"/>
    <location xmlns="7622c530-37a4-4326-9806-500499ba5cfe" xsi:nil="true"/>
    <Comment xmlns="7622c530-37a4-4326-9806-500499ba5cf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1A1A5B981B9C448FAC1366844367A5" ma:contentTypeVersion="24" ma:contentTypeDescription="Create a new document." ma:contentTypeScope="" ma:versionID="fded5c50fc96db652e19665de12e7916">
  <xsd:schema xmlns:xsd="http://www.w3.org/2001/XMLSchema" xmlns:xs="http://www.w3.org/2001/XMLSchema" xmlns:p="http://schemas.microsoft.com/office/2006/metadata/properties" xmlns:ns1="http://schemas.microsoft.com/sharepoint/v3" xmlns:ns2="7622c530-37a4-4326-9806-500499ba5cfe" xmlns:ns3="b5ccf674-81f3-48a3-8f4b-dfbde9b97e03" targetNamespace="http://schemas.microsoft.com/office/2006/metadata/properties" ma:root="true" ma:fieldsID="d02de0587c51b4f6adabb3017ff255dd" ns1:_="" ns2:_="" ns3:_="">
    <xsd:import namespace="http://schemas.microsoft.com/sharepoint/v3"/>
    <xsd:import namespace="7622c530-37a4-4326-9806-500499ba5cfe"/>
    <xsd:import namespace="b5ccf674-81f3-48a3-8f4b-dfbde9b97e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_Flow_SignoffStatus" minOccurs="0"/>
                <xsd:element ref="ns2:location" minOccurs="0"/>
                <xsd:element ref="ns2:a4465852-c240-4051-beb5-eef9c4495379CountryOrRegion" minOccurs="0"/>
                <xsd:element ref="ns2:a4465852-c240-4051-beb5-eef9c4495379State" minOccurs="0"/>
                <xsd:element ref="ns2:a4465852-c240-4051-beb5-eef9c4495379City" minOccurs="0"/>
                <xsd:element ref="ns2:a4465852-c240-4051-beb5-eef9c4495379PostalCode" minOccurs="0"/>
                <xsd:element ref="ns2:a4465852-c240-4051-beb5-eef9c4495379Street" minOccurs="0"/>
                <xsd:element ref="ns2:a4465852-c240-4051-beb5-eef9c4495379GeoLoc" minOccurs="0"/>
                <xsd:element ref="ns2:a4465852-c240-4051-beb5-eef9c4495379DispName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22c530-37a4-4326-9806-500499ba5c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2" nillable="true" ma:displayName="Sign-off status" ma:internalName="_x0024_Resources_x003a_core_x002c_Signoff_Status">
      <xsd:simpleType>
        <xsd:restriction base="dms:Text"/>
      </xsd:simpleType>
    </xsd:element>
    <xsd:element name="location" ma:index="23" nillable="true" ma:displayName="location" ma:description="location" ma:format="Dropdown" ma:internalName="location">
      <xsd:simpleType>
        <xsd:restriction base="dms:Unknown"/>
      </xsd:simpleType>
    </xsd:element>
    <xsd:element name="a4465852-c240-4051-beb5-eef9c4495379CountryOrRegion" ma:index="24" nillable="true" ma:displayName="location: 국가/지역" ma:internalName="CountryOrRegion" ma:readOnly="true">
      <xsd:simpleType>
        <xsd:restriction base="dms:Text"/>
      </xsd:simpleType>
    </xsd:element>
    <xsd:element name="a4465852-c240-4051-beb5-eef9c4495379State" ma:index="25" nillable="true" ma:displayName="location: 시/도" ma:internalName="State" ma:readOnly="true">
      <xsd:simpleType>
        <xsd:restriction base="dms:Text"/>
      </xsd:simpleType>
    </xsd:element>
    <xsd:element name="a4465852-c240-4051-beb5-eef9c4495379City" ma:index="26" nillable="true" ma:displayName="location: 도시" ma:internalName="City" ma:readOnly="true">
      <xsd:simpleType>
        <xsd:restriction base="dms:Text"/>
      </xsd:simpleType>
    </xsd:element>
    <xsd:element name="a4465852-c240-4051-beb5-eef9c4495379PostalCode" ma:index="27" nillable="true" ma:displayName="location: 우편 번호" ma:internalName="PostalCode" ma:readOnly="true">
      <xsd:simpleType>
        <xsd:restriction base="dms:Text"/>
      </xsd:simpleType>
    </xsd:element>
    <xsd:element name="a4465852-c240-4051-beb5-eef9c4495379Street" ma:index="28" nillable="true" ma:displayName="location: 주소" ma:internalName="Street" ma:readOnly="true">
      <xsd:simpleType>
        <xsd:restriction base="dms:Text"/>
      </xsd:simpleType>
    </xsd:element>
    <xsd:element name="a4465852-c240-4051-beb5-eef9c4495379GeoLoc" ma:index="29" nillable="true" ma:displayName="location: 좌표" ma:internalName="GeoLoc" ma:readOnly="true">
      <xsd:simpleType>
        <xsd:restriction base="dms:Unknown"/>
      </xsd:simpleType>
    </xsd:element>
    <xsd:element name="a4465852-c240-4051-beb5-eef9c4495379DispName" ma:index="30" nillable="true" ma:displayName="location: 이름" ma:internalName="DispName" ma:readOnly="true">
      <xsd:simpleType>
        <xsd:restriction base="dms:Text"/>
      </xsd:simpleType>
    </xsd:element>
    <xsd:element name="Comment" ma:index="31" nillable="true" ma:displayName="Comment" ma:format="Dropdown" ma:internalName="Comment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cf674-81f3-48a3-8f4b-dfbde9b97e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6229f86-efab-4beb-a6e7-65b047203513}" ma:internalName="TaxCatchAll" ma:showField="CatchAllData" ma:web="b5ccf674-81f3-48a3-8f4b-dfbde9b97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37885E-3C83-413B-9422-45967EB5E63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b5ccf674-81f3-48a3-8f4b-dfbde9b97e03"/>
    <ds:schemaRef ds:uri="7622c530-37a4-4326-9806-500499ba5cfe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4212F77-0B85-471E-BAAF-685A61F0F0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622c530-37a4-4326-9806-500499ba5cfe"/>
    <ds:schemaRef ds:uri="b5ccf674-81f3-48a3-8f4b-dfbde9b97e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E81192-250D-4AA0-A236-00C630E4AAE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  <clbl:label id="{9e00aa79-8db6-4d36-a892-747eec99934d}" enabled="0" method="" siteId="{9e00aa79-8db6-4d36-a892-747eec9993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1515</TotalTime>
  <Words>1336</Words>
  <Application>Microsoft Macintosh PowerPoint</Application>
  <PresentationFormat>Custom</PresentationFormat>
  <Paragraphs>177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굴림</vt:lpstr>
      <vt:lpstr>HY헤드라인M</vt:lpstr>
      <vt:lpstr>Malgun Gothic</vt:lpstr>
      <vt:lpstr>Malgun Gothic</vt:lpstr>
      <vt:lpstr>Arial</vt:lpstr>
      <vt:lpstr>Courier New</vt:lpstr>
      <vt:lpstr>Inter</vt:lpstr>
      <vt:lpstr>Mona Sans</vt:lpstr>
      <vt:lpstr>Wingdings</vt:lpstr>
      <vt:lpstr>1_디자인 사용자 지정</vt:lpstr>
      <vt:lpstr> LS ELECTRIC Digital HW팀 GitHub Copilot PoC 보고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수고하셨습니다!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L-Cloud 고도화</dc:title>
  <dc:creator>Sun Yoon Kim</dc:creator>
  <cp:lastModifiedBy>Andrew (SungHee) Yi</cp:lastModifiedBy>
  <cp:revision>6</cp:revision>
  <cp:lastPrinted>2010-10-25T05:18:07Z</cp:lastPrinted>
  <dcterms:created xsi:type="dcterms:W3CDTF">1996-10-14T12:11:22Z</dcterms:created>
  <dcterms:modified xsi:type="dcterms:W3CDTF">2025-11-13T03:36:12Z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0x010100521A1A5B981B9C448FAC1366844367A5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Ref">
    <vt:lpwstr>https://api.informationprotection.azure.com/api/72f988bf-86f1-41af-91ab-2d7cd011db47</vt:lpwstr>
  </property>
  <property fmtid="{D5CDD505-2E9C-101B-9397-08002B2CF9AE}" pid="6" name="MSIP_Label_f42aa342-8706-4288-bd11-ebb85995028c_Owner">
    <vt:lpwstr>youk@microsoft.com</vt:lpwstr>
  </property>
  <property fmtid="{D5CDD505-2E9C-101B-9397-08002B2CF9AE}" pid="7" name="MSIP_Label_f42aa342-8706-4288-bd11-ebb85995028c_SetDate">
    <vt:lpwstr>2017-09-28T16:05:45.1972049+09:00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pplication">
    <vt:lpwstr>Microsoft Azure Information Protection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  <property fmtid="{D5CDD505-2E9C-101B-9397-08002B2CF9AE}" pid="12" name="MediaServiceImageTags">
    <vt:lpwstr/>
  </property>
  <property fmtid="{D5CDD505-2E9C-101B-9397-08002B2CF9AE}" pid="13" name="Order">
    <vt:r8>283900</vt:r8>
  </property>
  <property fmtid="{D5CDD505-2E9C-101B-9397-08002B2CF9AE}" pid="14" name="xd_Signature">
    <vt:bool>false</vt:bool>
  </property>
  <property fmtid="{D5CDD505-2E9C-101B-9397-08002B2CF9AE}" pid="15" name="xd_ProgID">
    <vt:lpwstr/>
  </property>
  <property fmtid="{D5CDD505-2E9C-101B-9397-08002B2CF9AE}" pid="16" name="_SourceUrl">
    <vt:lpwstr/>
  </property>
  <property fmtid="{D5CDD505-2E9C-101B-9397-08002B2CF9AE}" pid="17" name="_SharedFileIndex">
    <vt:lpwstr/>
  </property>
  <property fmtid="{D5CDD505-2E9C-101B-9397-08002B2CF9AE}" pid="18" name="TemplateUrl">
    <vt:lpwstr/>
  </property>
  <property fmtid="{D5CDD505-2E9C-101B-9397-08002B2CF9AE}" pid="19" name="ComplianceAssetId">
    <vt:lpwstr/>
  </property>
  <property fmtid="{D5CDD505-2E9C-101B-9397-08002B2CF9AE}" pid="20" name="_ExtendedDescription">
    <vt:lpwstr/>
  </property>
  <property fmtid="{D5CDD505-2E9C-101B-9397-08002B2CF9AE}" pid="21" name="TriggerFlowInfo">
    <vt:lpwstr/>
  </property>
</Properties>
</file>